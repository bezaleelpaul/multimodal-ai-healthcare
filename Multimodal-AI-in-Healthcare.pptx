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286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3291840"/>
            <a:ext cx="4754880" cy="4754880"/>
          </a:xfrm>
          <a:prstGeom prst="ellipse">
            <a:avLst/>
          </a:prstGeom>
          <a:noFill/>
          <a:ln w="12700">
            <a:solidFill>
              <a:srgbClr val="151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3931920"/>
            <a:ext cx="3474720" cy="3474720"/>
          </a:xfrm>
          <a:prstGeom prst="ellipse">
            <a:avLst/>
          </a:prstGeom>
          <a:noFill/>
          <a:ln w="12700">
            <a:solidFill>
              <a:srgbClr val="1C2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4572000"/>
            <a:ext cx="2194560" cy="2194560"/>
          </a:xfrm>
          <a:prstGeom prst="ellipse">
            <a:avLst/>
          </a:prstGeom>
          <a:noFill/>
          <a:ln w="12700">
            <a:solidFill>
              <a:srgbClr val="09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5120640"/>
            <a:ext cx="1097280" cy="1097280"/>
          </a:xfrm>
          <a:prstGeom prst="ellipse">
            <a:avLst/>
          </a:prstGeom>
          <a:noFill/>
          <a:ln w="12700">
            <a:solidFill>
              <a:srgbClr val="1B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143000"/>
            <a:ext cx="3282696" cy="292608"/>
          </a:xfrm>
          <a:prstGeom prst="roundRect">
            <a:avLst>
              <a:gd name="adj" fmla="val 50000"/>
            </a:avLst>
          </a:prstGeom>
          <a:solidFill>
            <a:srgbClr val="09304A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 spc="40">
                <a:solidFill>
                  <a:srgbClr val="00B4D8"/>
                </a:solidFill>
                <a:latin typeface="Arial"/>
              </a:rPr>
              <a:t>IEEE SEMINAR  ·  ADVANCED 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8FAFC"/>
                </a:solidFill>
                <a:latin typeface="Arial"/>
              </a:rPr>
              <a:t>MULTIMODAL AI IN HEALTHCARE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0" i="0">
                <a:solidFill>
                  <a:srgbClr val="4CC9F0"/>
                </a:solidFill>
                <a:latin typeface="Arial"/>
              </a:rPr>
              <a:t>Fusing Medical Imaging, Clinical Text, and EHR Signals for Precision Diagnostics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3756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065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" y="3502152"/>
            <a:ext cx="850392" cy="201168"/>
          </a:xfrm>
          <a:prstGeom prst="roundRect">
            <a:avLst>
              <a:gd name="adj" fmla="val 50000"/>
            </a:avLst>
          </a:prstGeom>
          <a:solidFill>
            <a:srgbClr val="09304A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00B4D8"/>
                </a:solidFill>
                <a:latin typeface="Arial"/>
              </a:rPr>
              <a:t>MODALITY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776472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RADIOLOGY &amp; PATHOLOGY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206240"/>
            <a:ext cx="21854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Chest X-Ray, CT, MRI, WSI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33756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51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5032" y="3502152"/>
            <a:ext cx="850392" cy="201168"/>
          </a:xfrm>
          <a:prstGeom prst="roundRect">
            <a:avLst>
              <a:gd name="adj" fmla="val 50000"/>
            </a:avLst>
          </a:prstGeom>
          <a:solidFill>
            <a:srgbClr val="27295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A78BFA"/>
                </a:solidFill>
                <a:latin typeface="Arial"/>
              </a:rPr>
              <a:t>MODALITY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776472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CLINICAL NLP &amp;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4206240"/>
            <a:ext cx="21854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EHR, Discharge, Findings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33756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1D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28231" y="3502152"/>
            <a:ext cx="850392" cy="201168"/>
          </a:xfrm>
          <a:prstGeom prst="roundRect">
            <a:avLst>
              <a:gd name="adj" fmla="val 50000"/>
            </a:avLst>
          </a:prstGeom>
          <a:solidFill>
            <a:srgbClr val="12363F"/>
          </a:solidFill>
          <a:ln w="9525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34D399"/>
                </a:solidFill>
                <a:latin typeface="Arial"/>
              </a:rPr>
              <a:t>MODALITY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3776472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PHYSIOLOGICAL TELEMETRY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4206240"/>
            <a:ext cx="21854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ECG, Vitals, SpO2, Labs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333756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776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71432" y="3502152"/>
            <a:ext cx="850392" cy="201168"/>
          </a:xfrm>
          <a:prstGeom prst="roundRect">
            <a:avLst>
              <a:gd name="adj" fmla="val 50000"/>
            </a:avLst>
          </a:prstGeom>
          <a:solidFill>
            <a:srgbClr val="36322A"/>
          </a:solidFill>
          <a:ln w="9525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FBBF24"/>
                </a:solidFill>
                <a:latin typeface="Arial"/>
              </a:rPr>
              <a:t>MODALITY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3776472"/>
            <a:ext cx="21854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HIGH-DIMENSIONAL OMICS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4206240"/>
            <a:ext cx="21854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Genomics, RNA-seq, Biomarkers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074920"/>
            <a:ext cx="10652760" cy="1051560"/>
          </a:xfrm>
          <a:prstGeom prst="roundRect">
            <a:avLst>
              <a:gd name="adj" fmla="val 8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212080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rial"/>
              </a:rPr>
              <a:t>Presenter: Bezaleel Paul 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596128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B.Tech Computer Science and Engineering  |  Academic Seminar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21208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Arial"/>
              </a:rPr>
              <a:t>Companion Project: MedMultiSync (Live Colab Demo)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59612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Arial"/>
              </a:rPr>
              <a:t>Grounded in IEEE JBHI, IEEE TBME &amp; Nature Medicine literature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Multimodal AI in Healthcare  |  IEEE Seminar  |  Presenter: Bezaleel Paul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AGENDA &amp;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Executive Summary &amp; Presentation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A systematic exploration from clinical limitations of unimodal models to IEEE fusion architectures and our live cloud demonstration.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074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1874520"/>
            <a:ext cx="548640" cy="411480"/>
          </a:xfrm>
          <a:prstGeom prst="roundRect">
            <a:avLst>
              <a:gd name="adj" fmla="val 14000"/>
            </a:avLst>
          </a:prstGeom>
          <a:solidFill>
            <a:srgbClr val="09334E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300" b="1" i="0">
                <a:solidFill>
                  <a:srgbClr val="00B4D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18745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Arial"/>
              </a:rPr>
              <a:t>The Clinical Imperative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213055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B4D8"/>
                </a:solidFill>
                <a:latin typeface="Arial"/>
              </a:rPr>
              <a:t>Why Unimodal Models Fail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42316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560320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Clinical diagnostics require holistic reasoning across imaging, vitals, and physician notes.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69164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225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0" y="1874520"/>
            <a:ext cx="548640" cy="411480"/>
          </a:xfrm>
          <a:prstGeom prst="roundRect">
            <a:avLst>
              <a:gd name="adj" fmla="val 14000"/>
            </a:avLst>
          </a:prstGeom>
          <a:solidFill>
            <a:srgbClr val="183752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300" b="1" i="0">
                <a:solidFill>
                  <a:srgbClr val="4CC9F0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8745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Arial"/>
              </a:rPr>
              <a:t>Taxonomy &amp; Data Spectrum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13055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4CC9F0"/>
                </a:solidFill>
                <a:latin typeface="Arial"/>
              </a:rPr>
              <a:t>Heterogeneous Health Modalities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42316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560320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Radiological pixels, unstructured clinical narratives, discrete lab vitals, and molecular genomics.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69164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42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83879" y="1874520"/>
            <a:ext cx="548640" cy="411480"/>
          </a:xfrm>
          <a:prstGeom prst="roundRect">
            <a:avLst>
              <a:gd name="adj" fmla="val 14000"/>
            </a:avLst>
          </a:prstGeom>
          <a:solidFill>
            <a:srgbClr val="2A2B54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300" b="1" i="0">
                <a:solidFill>
                  <a:srgbClr val="A78BFA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8745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Arial"/>
              </a:rPr>
              <a:t>Data Fusion Paradigms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13055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78BFA"/>
                </a:solidFill>
                <a:latin typeface="Arial"/>
              </a:rPr>
              <a:t>IEEE Taxonomic Framework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242316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2560320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Early vs. Intermediate Cross-Attention vs. Late decision pooling, plus contrastive alignment.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93192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5F4F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" y="4114800"/>
            <a:ext cx="548640" cy="411480"/>
          </a:xfrm>
          <a:prstGeom prst="roundRect">
            <a:avLst>
              <a:gd name="adj" fmla="val 14000"/>
            </a:avLst>
          </a:prstGeom>
          <a:solidFill>
            <a:srgbClr val="3B35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300" b="1" i="0">
                <a:solidFill>
                  <a:srgbClr val="FBBF24"/>
                </a:solidFill>
                <a:latin typeface="Arial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19" y="411480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Arial"/>
              </a:rPr>
              <a:t>Foundation Models (SOTA)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19" y="437083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BBF24"/>
                </a:solidFill>
                <a:latin typeface="Arial"/>
              </a:rPr>
              <a:t>BioMedCLIP to Med-Flamingo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466344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800600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Zero-shot cross-modal pretraining and multimodal clinical in-context reasoning at scale.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393192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5F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72000" y="4114800"/>
            <a:ext cx="548640" cy="411480"/>
          </a:xfrm>
          <a:prstGeom prst="roundRect">
            <a:avLst>
              <a:gd name="adj" fmla="val 14000"/>
            </a:avLst>
          </a:prstGeom>
          <a:solidFill>
            <a:srgbClr val="3B263D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300" b="1" i="0">
                <a:solidFill>
                  <a:srgbClr val="FB7185"/>
                </a:solidFill>
                <a:latin typeface="Arial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11480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Arial"/>
              </a:rPr>
              <a:t>Translational Challenges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437083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B7185"/>
                </a:solidFill>
                <a:latin typeface="Arial"/>
              </a:rPr>
              <a:t>Missing Data &amp; Safety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466344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4800600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Modality imputation, medical hallucination safeguards, HIPAA federated learning, IEEE P2801.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0" y="393192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195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83879" y="4114800"/>
            <a:ext cx="548640" cy="411480"/>
          </a:xfrm>
          <a:prstGeom prst="roundRect">
            <a:avLst>
              <a:gd name="adj" fmla="val 14000"/>
            </a:avLst>
          </a:prstGeom>
          <a:solidFill>
            <a:srgbClr val="13394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300" b="1" i="0">
                <a:solidFill>
                  <a:srgbClr val="34D399"/>
                </a:solidFill>
                <a:latin typeface="Arial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11480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Arial"/>
              </a:rPr>
              <a:t>MedMultiSync &amp; Live Demo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37083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34D399"/>
                </a:solidFill>
                <a:latin typeface="Arial"/>
              </a:rPr>
              <a:t>End-to-End System in Colab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79" y="466344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79" y="4800600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Interactive multimodal decision support with Grad-CAM visual heatmaps and clinical impression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Multimodal AI in Healthcare  |  IEEE Seminar  |  Presenter: Bezaleel Paul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MOTIVATION &amp; CLINICAL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The Clinical Imperative: Why Healthcare Must Be Multimodal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Isolated scans produce diagnostic ambiguity. Only the synthesis of imaging, physiology, and history unlocks definitive patient care.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5166360" cy="393192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773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1920240"/>
            <a:ext cx="2450592" cy="219456"/>
          </a:xfrm>
          <a:prstGeom prst="roundRect">
            <a:avLst>
              <a:gd name="adj" fmla="val 50000"/>
            </a:avLst>
          </a:prstGeom>
          <a:solidFill>
            <a:srgbClr val="36243B"/>
          </a:solidFill>
          <a:ln w="9525">
            <a:solidFill>
              <a:srgbClr val="83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FB7185"/>
                </a:solidFill>
                <a:latin typeface="Arial"/>
              </a:rPr>
              <a:t>UNIMODAL AI  ·  DIAGNOSTIC AMBIGUITY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rial"/>
              </a:rPr>
              <a:t>Scenario: Isolated Chest Radiograph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743200"/>
            <a:ext cx="4709160" cy="749808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532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2880360"/>
            <a:ext cx="292608" cy="475488"/>
          </a:xfrm>
          <a:prstGeom prst="roundRect">
            <a:avLst>
              <a:gd name="adj" fmla="val 14000"/>
            </a:avLst>
          </a:prstGeom>
          <a:solidFill>
            <a:srgbClr val="472A42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B7185"/>
                </a:solidFill>
                <a:latin typeface="Arial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852928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Visual Finding: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Dense opacity observed in right lower lung zone.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611880"/>
            <a:ext cx="4709160" cy="749808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534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43000" y="3749040"/>
            <a:ext cx="292608" cy="475488"/>
          </a:xfrm>
          <a:prstGeom prst="roundRect">
            <a:avLst>
              <a:gd name="adj" fmla="val 14000"/>
            </a:avLst>
          </a:prstGeom>
          <a:solidFill>
            <a:srgbClr val="473E29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BBF24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21608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Differential Diagnoses: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Could represent Bacterial Pneumonia, Atelectasis, or Pleural Effusion.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480560"/>
            <a:ext cx="4709160" cy="749808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532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000" y="4617720"/>
            <a:ext cx="292608" cy="475488"/>
          </a:xfrm>
          <a:prstGeom prst="roundRect">
            <a:avLst>
              <a:gd name="adj" fmla="val 14000"/>
            </a:avLst>
          </a:prstGeom>
          <a:solidFill>
            <a:srgbClr val="472A42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 i="0">
                <a:solidFill>
                  <a:srgbClr val="FB7185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90288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Unimodal Failure: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Pixel information alone cannot establish etiology; risks erroneous treatment protocol.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691640"/>
            <a:ext cx="5166360" cy="393192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1D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92240" y="1920240"/>
            <a:ext cx="2450592" cy="219456"/>
          </a:xfrm>
          <a:prstGeom prst="roundRect">
            <a:avLst>
              <a:gd name="adj" fmla="val 50000"/>
            </a:avLst>
          </a:prstGeom>
          <a:solidFill>
            <a:srgbClr val="12363F"/>
          </a:solidFill>
          <a:ln w="9525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34D399"/>
                </a:solidFill>
                <a:latin typeface="Arial"/>
              </a:rPr>
              <a:t>MULTIMODAL AI  ·  HOLISTIC PRECISION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2860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rial"/>
              </a:rPr>
              <a:t>Resolution: Context-Aware Multimodal Fusion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743200"/>
            <a:ext cx="4709160" cy="566928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0843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29400" y="2834640"/>
            <a:ext cx="274320" cy="384048"/>
          </a:xfrm>
          <a:prstGeom prst="roundRect">
            <a:avLst>
              <a:gd name="adj" fmla="val 14000"/>
            </a:avLst>
          </a:prstGeom>
          <a:solidFill>
            <a:srgbClr val="083B56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00B4D8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2816352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Imaging Feature: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Right lower lobe airspace consolidation (ResNet/ViT feature map).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401568"/>
            <a:ext cx="4709160" cy="566928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174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29400" y="3493008"/>
            <a:ext cx="274320" cy="384048"/>
          </a:xfrm>
          <a:prstGeom prst="roundRect">
            <a:avLst>
              <a:gd name="adj" fmla="val 14000"/>
            </a:avLst>
          </a:prstGeom>
          <a:solidFill>
            <a:srgbClr val="154346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3448" y="3474720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Clinical Vitals / Lab: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Body Temp 39.2°C, SpO2 91%, WBC 16.4x10^3/uL -&gt; Indicates active infection.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059935"/>
            <a:ext cx="4709160" cy="566928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1E4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29400" y="4151375"/>
            <a:ext cx="274320" cy="384048"/>
          </a:xfrm>
          <a:prstGeom prst="roundRect">
            <a:avLst>
              <a:gd name="adj" fmla="val 14000"/>
            </a:avLst>
          </a:prstGeom>
          <a:solidFill>
            <a:srgbClr val="1B405C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4CC9F0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4133087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Doctor's Narrative: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3-day history of shaking chills, purulent sputum, localized crackles.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718304"/>
            <a:ext cx="4709160" cy="566928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174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29400" y="4809744"/>
            <a:ext cx="274320" cy="384048"/>
          </a:xfrm>
          <a:prstGeom prst="roundRect">
            <a:avLst>
              <a:gd name="adj" fmla="val 14000"/>
            </a:avLst>
          </a:prstGeom>
          <a:solidFill>
            <a:srgbClr val="154346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34D399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3448" y="4791456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Unified Multimodal Output: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Definitive Bacterial Pneumonia (&gt;97% calibrated confidence) + Targeted antibiotic regimen.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806440"/>
            <a:ext cx="10652760" cy="594360"/>
          </a:xfrm>
          <a:prstGeom prst="roundRect">
            <a:avLst>
              <a:gd name="adj" fmla="val 16000"/>
            </a:avLst>
          </a:prstGeom>
          <a:solidFill>
            <a:srgbClr val="0A233C"/>
          </a:solidFill>
          <a:ln w="12700">
            <a:solidFill>
              <a:srgbClr val="075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8154" y="5934455"/>
            <a:ext cx="50292" cy="3383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5" y="5897879"/>
            <a:ext cx="102504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0B4D8"/>
                </a:solidFill>
                <a:latin typeface="Arial"/>
              </a:rPr>
              <a:t>CLINICAL BENCHMARK (IEEE JBHI 2024)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Multimodal fusion achieves a +18.4% to +23.6% AUROC improvement over unimodal vision models across the MIMIC-IV and CheXpert cohorts.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Multimodal AI in Healthcare  |  IEEE Seminar  |  Presenter: Bezaleel Paul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HEALTHCARE DATA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The Medical Modality Spectrum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Healthcare encompasses the most heterogeneous data landscape of any industry: spatial, temporal, narrative, and genomic.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5212080" cy="2121408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074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1874520"/>
            <a:ext cx="1682496" cy="219456"/>
          </a:xfrm>
          <a:prstGeom prst="roundRect">
            <a:avLst>
              <a:gd name="adj" fmla="val 50000"/>
            </a:avLst>
          </a:prstGeom>
          <a:solidFill>
            <a:srgbClr val="09304A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00B4D8"/>
                </a:solidFill>
                <a:latin typeface="Arial"/>
              </a:rPr>
              <a:t>01. UNSTRUCTURED IMAGING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4884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High-Dimensional Spatial Tensors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468880"/>
            <a:ext cx="484632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560320"/>
            <a:ext cx="4846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Radiology: 2D Chest X-Ray, 3D CT volumetrics, multi-sequence MRI.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Digital Pathology: Whole Slide Images (WSI) reaching 100,000 x 100,000 px.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Point-of-Care: Ultrasound Doppler, Dermoscopy, Retinal Fundus photography.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Model Backbones: Vision Transformers (ViT), Swin, ConvNeXt.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5212080" cy="2121408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42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874520"/>
            <a:ext cx="2066544" cy="219456"/>
          </a:xfrm>
          <a:prstGeom prst="roundRect">
            <a:avLst>
              <a:gd name="adj" fmla="val 50000"/>
            </a:avLst>
          </a:prstGeom>
          <a:solidFill>
            <a:srgbClr val="27295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A78BFA"/>
                </a:solidFill>
                <a:latin typeface="Arial"/>
              </a:rPr>
              <a:t>02. UNSTRUCTURED CLINICAL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Dense Domain-Specific Language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68880"/>
            <a:ext cx="484632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4846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EHR Progress Notes: SOAP notes, admission histories, nursing logs.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Diagnostic Reports: Formal radiology impressions, pathology summaries.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Challenges: Heavy medical abbreviations, negation ('no pneumothorax'), syntax noise.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Model Backbones: ClinicalBERT, BioLinkBERT, Med-PaLM.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77639"/>
            <a:ext cx="5212080" cy="2121408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195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4160520"/>
            <a:ext cx="2002536" cy="219456"/>
          </a:xfrm>
          <a:prstGeom prst="roundRect">
            <a:avLst>
              <a:gd name="adj" fmla="val 50000"/>
            </a:avLst>
          </a:prstGeom>
          <a:solidFill>
            <a:srgbClr val="12363F"/>
          </a:solidFill>
          <a:ln w="9525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34D399"/>
                </a:solidFill>
                <a:latin typeface="Arial"/>
              </a:rPr>
              <a:t>03. STRUCTURED &amp; TEMPORAL EHR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3484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Discrete &amp; Streaming Biomarkers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4754879"/>
            <a:ext cx="484632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846320"/>
            <a:ext cx="4846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Vital Signs: Heart Rate, Blood Pressure, Respiratory Rate, SpO2, Temperature.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Laboratory Panels: Comprehensive metabolic panels (CMP), CBC, arterial blood gas.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ICU Continuous Telemetry: High-frequency 12-lead ECG, EEG waveforms.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Model Backbones: Temporal CNNs, Bi-LSTM, TabNet, Transformer Encoders.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977639"/>
            <a:ext cx="5212080" cy="2121408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5F4F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4160520"/>
            <a:ext cx="1810512" cy="219456"/>
          </a:xfrm>
          <a:prstGeom prst="roundRect">
            <a:avLst>
              <a:gd name="adj" fmla="val 50000"/>
            </a:avLst>
          </a:prstGeom>
          <a:solidFill>
            <a:srgbClr val="36322A"/>
          </a:solidFill>
          <a:ln w="9525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FBBF24"/>
                </a:solidFill>
                <a:latin typeface="Arial"/>
              </a:rPr>
              <a:t>04. HIGH-DIMENSIONAL OMICS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3484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Molecular &amp; Genomic Profiling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754879"/>
            <a:ext cx="484632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20"/>
            <a:ext cx="4846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Genomics: Whole Exome / Genome Sequencing (WGS), single-nucleotide variants.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Transcriptomics &amp; Proteomics: RNA-seq gene expression matrices, cell markers.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Clinical Goal: Targeted oncological therapy, pharmacogenomics, immunotherapy response.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• Model Backbones: Graph Neural Networks (GNNs), Pathway-informed MLPs.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Multimodal AI in Healthcare  |  IEEE Seminar  |  Presenter: Bezaleel Paul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IEEE JBHI TAXONOMIC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Multimodal Fusion Paradigms in Deep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Classifying how and when heterogeneous medical signals intersect to form a unified clinical latent representation.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3429000" cy="3977639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074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187452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09304A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 spc="40">
                <a:solidFill>
                  <a:srgbClr val="00B4D8"/>
                </a:solidFill>
                <a:latin typeface="Arial"/>
              </a:rPr>
              <a:t>EARLY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67128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rial"/>
              </a:rPr>
              <a:t>Data / Raw Feature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Raw inputs or low-level feature vectors are concatenated before entering the primary network.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10896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246120"/>
            <a:ext cx="3154680" cy="6858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174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Advantages: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Captures low-level cross-correlations early; simple single-model pipeline.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023359"/>
            <a:ext cx="3154680" cy="6858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532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14799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Vulnerabilities: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Highly sensitive to missing modalities; severe dimensionality mismatch.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00600"/>
            <a:ext cx="3154680" cy="6858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0843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920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Clinical Fit: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Co-registered multi-sequence imaging (e.g., T1/T2/FLAIR MRI fusion).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1691640"/>
            <a:ext cx="3429000" cy="3977639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42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0" y="1874520"/>
            <a:ext cx="1874520" cy="219456"/>
          </a:xfrm>
          <a:prstGeom prst="roundRect">
            <a:avLst>
              <a:gd name="adj" fmla="val 50000"/>
            </a:avLst>
          </a:prstGeom>
          <a:solidFill>
            <a:srgbClr val="27295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 spc="40">
                <a:solidFill>
                  <a:srgbClr val="A78BFA"/>
                </a:solidFill>
                <a:latin typeface="Arial"/>
              </a:rPr>
              <a:t>INTERMEDIATE / JOINT FUSION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167128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rial"/>
              </a:rPr>
              <a:t>Cross-Attention &amp; Shared Latent 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496312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Dedicated modality encoders project into a shared embedding space with cross-modal attention mechanisms.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10896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6280" y="3246120"/>
            <a:ext cx="3154680" cy="6858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174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33756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Advantages: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Dynamically attends to relevant modalities; preserves modality-specific features; resilient.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4023359"/>
            <a:ext cx="3154680" cy="6858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532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114799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Vulnerabilities: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Architectural complexity; requires paired pretraining data &amp; larger compute budget.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4800600"/>
            <a:ext cx="3154680" cy="6858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3A37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48920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Clinical Fit: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Vision-Language-EHR diagnosis (BioMedCLIP, Med-Flamingo, MedMultiSync).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1691640"/>
            <a:ext cx="3429000" cy="3977639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5F4F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83879" y="1874520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36322A"/>
          </a:solidFill>
          <a:ln w="9525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 spc="40">
                <a:solidFill>
                  <a:srgbClr val="FBBF24"/>
                </a:solidFill>
                <a:latin typeface="Arial"/>
              </a:rPr>
              <a:t>LATE FUSION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2167128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rial"/>
              </a:rPr>
              <a:t>Decision / Ensemble Level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2496312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Unimodal networks are trained independently; their final prediction probabilities are pooled.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310896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38160" y="3246120"/>
            <a:ext cx="3154680" cy="6858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174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333756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Advantages: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Tolerates missing modalities natively; modular components can be upgraded independently.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023359"/>
            <a:ext cx="3154680" cy="6858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532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4114799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Vulnerabilities: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Cannot learn complex non-linear cross-modal interactions or feature synergies.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4800600"/>
            <a:ext cx="3154680" cy="6858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534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48920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Clinical Fit: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Hospital department ensembles (Radiology AI score + Pathology AI score).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806440"/>
            <a:ext cx="10652760" cy="594360"/>
          </a:xfrm>
          <a:prstGeom prst="roundRect">
            <a:avLst>
              <a:gd name="adj" fmla="val 16000"/>
            </a:avLst>
          </a:prstGeom>
          <a:solidFill>
            <a:srgbClr val="1B1F40"/>
          </a:solidFill>
          <a:ln w="12700">
            <a:solidFill>
              <a:srgbClr val="464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8154" y="5934455"/>
            <a:ext cx="50292" cy="3383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6695" y="5897879"/>
            <a:ext cx="102504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A78BFA"/>
                </a:solidFill>
                <a:latin typeface="Arial"/>
              </a:rPr>
              <a:t>IEEE SURVEY CONSENSUS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Intermediate Cross-Attention Fusion has emerged as the clear empirical gold standard across medical benchmarks, providing optimal balance between expressiveness and clinical robustness.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Multimodal AI in Healthcare  |  IEEE Seminar  |  Presenter: Bezaleel Paul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NEURAL ARCHITECTURE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Cross-Modal Attention: How Vision &amp; Text Interlock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Mathematical alignment: Clinical text queries dynamically attend to spatial image patches to ground diagnostic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7132320" cy="393192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1956816"/>
            <a:ext cx="45720" cy="1828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1920240"/>
            <a:ext cx="65288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00B4D8"/>
                </a:solidFill>
                <a:latin typeface="Arial"/>
              </a:rPr>
              <a:t>DUAL-STREAM CROSS-ATTENTION DATAFLOW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240280"/>
            <a:ext cx="1920240" cy="658368"/>
          </a:xfrm>
          <a:prstGeom prst="roundRect">
            <a:avLst>
              <a:gd name="adj" fmla="val 14000"/>
            </a:avLst>
          </a:prstGeom>
          <a:solidFill>
            <a:srgbClr val="09334E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Medical Image
(Chest X-Ray / CT)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2569464"/>
            <a:ext cx="548640" cy="0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97280" y="3154680"/>
            <a:ext cx="1920240" cy="658368"/>
          </a:xfrm>
          <a:prstGeom prst="roundRect">
            <a:avLst>
              <a:gd name="adj" fmla="val 14000"/>
            </a:avLst>
          </a:prstGeom>
          <a:solidFill>
            <a:srgbClr val="13394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Clinical Vitals / Labs
(HR, SpO2, Temp, WBC)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3483864"/>
            <a:ext cx="548640" cy="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97280" y="4069080"/>
            <a:ext cx="1920240" cy="658368"/>
          </a:xfrm>
          <a:prstGeom prst="roundRect">
            <a:avLst>
              <a:gd name="adj" fmla="val 14000"/>
            </a:avLst>
          </a:prstGeom>
          <a:solidFill>
            <a:srgbClr val="2A2B54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 i="0">
                <a:solidFill>
                  <a:srgbClr val="F8FAFC"/>
                </a:solidFill>
                <a:latin typeface="Arial"/>
              </a:rPr>
              <a:t>Doctor's Notes
('Purulent cough, crackles')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17520" y="4398264"/>
            <a:ext cx="548640" cy="0"/>
          </a:xfrm>
          <a:prstGeom prst="line">
            <a:avLst/>
          </a:prstGeom>
          <a:ln w="1905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566160" y="2240280"/>
            <a:ext cx="1737360" cy="65836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00B4D8"/>
                </a:solidFill>
                <a:latin typeface="Arial"/>
              </a:rPr>
              <a:t>Vision Encoder
(ViT / ResNet)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03520" y="2569464"/>
            <a:ext cx="548639" cy="905256"/>
          </a:xfrm>
          <a:prstGeom prst="line">
            <a:avLst/>
          </a:prstGeom>
          <a:ln w="1778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566160" y="3154680"/>
            <a:ext cx="1737360" cy="65836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34D399"/>
                </a:solidFill>
                <a:latin typeface="Arial"/>
              </a:rPr>
              <a:t>Tabular MLP
(Norm + Embed)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303520" y="3474720"/>
            <a:ext cx="548639" cy="9144"/>
          </a:xfrm>
          <a:prstGeom prst="line">
            <a:avLst/>
          </a:prstGeom>
          <a:ln w="1778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566160" y="4069080"/>
            <a:ext cx="1737360" cy="658368"/>
          </a:xfrm>
          <a:prstGeom prst="roundRect">
            <a:avLst>
              <a:gd name="adj" fmla="val 14000"/>
            </a:avLst>
          </a:prstGeom>
          <a:solidFill>
            <a:srgbClr val="1A2647"/>
          </a:solidFill>
          <a:ln w="12700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50" b="1" i="0">
                <a:solidFill>
                  <a:srgbClr val="A78BFA"/>
                </a:solidFill>
                <a:latin typeface="Arial"/>
              </a:rPr>
              <a:t>Clinical NLP
(ClinicalBERT)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303520" y="3474720"/>
            <a:ext cx="548639" cy="923544"/>
          </a:xfrm>
          <a:prstGeom prst="line">
            <a:avLst/>
          </a:prstGeom>
          <a:ln w="1778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852159" y="2788920"/>
            <a:ext cx="1691640" cy="1417320"/>
          </a:xfrm>
          <a:prstGeom prst="roundRect">
            <a:avLst>
              <a:gd name="adj" fmla="val 14000"/>
            </a:avLst>
          </a:prstGeom>
          <a:solidFill>
            <a:srgbClr val="32315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200" b="1" i="0">
                <a:solidFill>
                  <a:srgbClr val="F8FAFC"/>
                </a:solidFill>
                <a:latin typeface="Arial"/>
              </a:rPr>
              <a:t>Cross-Attention
Fusion Core</a:t>
            </a:r>
          </a:p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950" b="0" i="0">
                <a:solidFill>
                  <a:srgbClr val="4CC9F0"/>
                </a:solidFill>
                <a:latin typeface="Arial"/>
              </a:rPr>
              <a:t>Softmax(Q·K^T / √d) · V
Gated Residuals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43800" y="3474720"/>
            <a:ext cx="320040" cy="0"/>
          </a:xfrm>
          <a:prstGeom prst="line">
            <a:avLst/>
          </a:prstGeom>
          <a:ln w="2540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092440" y="1691640"/>
            <a:ext cx="3337560" cy="393192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225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19" y="1956816"/>
            <a:ext cx="45720" cy="18288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21624" y="1920240"/>
            <a:ext cx="28254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4CC9F0"/>
                </a:solidFill>
                <a:latin typeface="Arial"/>
              </a:rPr>
              <a:t>DIAGNOSTIC OUTPUTS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331720"/>
            <a:ext cx="3063240" cy="6858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174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404872"/>
            <a:ext cx="2880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Multi-Disease Probabilities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Calibrated risk scores for Pneumonia, Cardiomegaly, Atelectasis, Normal.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108960"/>
            <a:ext cx="3063240" cy="6858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0843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182112"/>
            <a:ext cx="2880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Grad-CAM Anatomical Map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Spatial attention heatmaps superimposing radiological focus areas.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886200"/>
            <a:ext cx="3063240" cy="6858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3A37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959352"/>
            <a:ext cx="2880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Modality Attribution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Exact percentage contribution per modality (Image vs Vitals vs Notes).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663440"/>
            <a:ext cx="3063240" cy="6858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534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736592"/>
            <a:ext cx="2880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Structured Impression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Automated clinical summary for physician verification.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806440"/>
            <a:ext cx="10652760" cy="594360"/>
          </a:xfrm>
          <a:prstGeom prst="roundRect">
            <a:avLst>
              <a:gd name="adj" fmla="val 16000"/>
            </a:avLst>
          </a:prstGeom>
          <a:solidFill>
            <a:srgbClr val="0A233C"/>
          </a:solidFill>
          <a:ln w="12700">
            <a:solidFill>
              <a:srgbClr val="075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8154" y="5934455"/>
            <a:ext cx="50292" cy="3383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5" y="5897879"/>
            <a:ext cx="102504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0B4D8"/>
                </a:solidFill>
                <a:latin typeface="Arial"/>
              </a:rPr>
              <a:t>KEY MATHEMATICAL ADVANTAGE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Cross-attention enables bi-directional conditioning: textual symptoms steer visual attention to specific lung zones, while abnormal image features trigger focused interrogation of tabular vitals.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Multimodal AI in Healthcare  |  IEEE Seminar  |  Presenter: Bezaleel Paul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STATE-OF-THE-ART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Biomedical Multimodal Foundation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From task-specific classifiers to generalist foundation models pretrained on millions of multimodal medical pairs.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2514600" cy="3977639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074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" y="1856232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09304A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 spc="40">
                <a:solidFill>
                  <a:srgbClr val="00B4D8"/>
                </a:solidFill>
                <a:latin typeface="Arial"/>
              </a:rPr>
              <a:t>BioMedCLIP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167128"/>
            <a:ext cx="2185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Microsoft Research  ·  Nature MMI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" y="2514600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0A233C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00B4D8"/>
                </a:solidFill>
                <a:latin typeface="Arial"/>
              </a:rPr>
              <a:t>15M Image-Text Pairs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" y="2834640"/>
            <a:ext cx="2185416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926080"/>
            <a:ext cx="2185416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Pretrained on PMC-15M multimodal biomedical scientific articles.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Contrastive vision-language pretraining matching clinical terminology with pathology scans.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Zero-shot diagnostic performance superior to standard CLIP across 10+ clinical imaging datasets.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1691640"/>
            <a:ext cx="2514600" cy="3977639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42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85032" y="185623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27295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 spc="40">
                <a:solidFill>
                  <a:srgbClr val="A78BFA"/>
                </a:solidFill>
                <a:latin typeface="Arial"/>
              </a:rPr>
              <a:t>Med-Flamingo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167128"/>
            <a:ext cx="2185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Stanford Medicine  ·  Nature Med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85032" y="2514600"/>
            <a:ext cx="2002536" cy="201168"/>
          </a:xfrm>
          <a:prstGeom prst="roundRect">
            <a:avLst>
              <a:gd name="adj" fmla="val 50000"/>
            </a:avLst>
          </a:prstGeom>
          <a:solidFill>
            <a:srgbClr val="1B1F4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A78BFA"/>
                </a:solidFill>
                <a:latin typeface="Arial"/>
              </a:rPr>
              <a:t>Few-Shot In-Context Reasoning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85032" y="2834640"/>
            <a:ext cx="2185416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85032" y="2926080"/>
            <a:ext cx="2185416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Pioneering medical visual language model adapted for few-shot clinical dialogue.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Ingests interleaved sequences of radiological images, histology, and clinical Q&amp;A.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Demonstrates +20% accuracy gain on challenging USMLE visual questions with few-shot prompts.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691640"/>
            <a:ext cx="2514600" cy="3977639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195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28231" y="1856232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12363F"/>
          </a:solidFill>
          <a:ln w="9525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 spc="40">
                <a:solidFill>
                  <a:srgbClr val="34D399"/>
                </a:solidFill>
                <a:latin typeface="Arial"/>
              </a:rPr>
              <a:t>LLaVA-Med &amp; Med-PaLM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2167128"/>
            <a:ext cx="2185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Google Research / NIH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8231" y="2514600"/>
            <a:ext cx="1682496" cy="201168"/>
          </a:xfrm>
          <a:prstGeom prst="roundRect">
            <a:avLst>
              <a:gd name="adj" fmla="val 50000"/>
            </a:avLst>
          </a:prstGeom>
          <a:solidFill>
            <a:srgbClr val="0F2636"/>
          </a:solidFill>
          <a:ln w="9525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34D399"/>
                </a:solidFill>
                <a:latin typeface="Arial"/>
              </a:rPr>
              <a:t>Generalist Multimodal 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28231" y="2834640"/>
            <a:ext cx="2185416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2926080"/>
            <a:ext cx="2185416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Med-PaLM M: Single generalist model trained across 14 distinct biomedical tasks.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Seamlessly switches between chest X-ray triage, dermoscopy, pathology, and genomics report drafting.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Clinicians rated Med-PaLM M reports equivalent to human specialist reports in 86.5% of cases.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1691640"/>
            <a:ext cx="2514600" cy="3977639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5F4F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71432" y="1856232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36322A"/>
          </a:solidFill>
          <a:ln w="9525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 spc="40">
                <a:solidFill>
                  <a:srgbClr val="FBBF24"/>
                </a:solidFill>
                <a:latin typeface="Arial"/>
              </a:rPr>
              <a:t>CheXzero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2167128"/>
            <a:ext cx="2185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rial"/>
              </a:rPr>
              <a:t>Harvard / Stanford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71432" y="2514600"/>
            <a:ext cx="1490472" cy="201168"/>
          </a:xfrm>
          <a:prstGeom prst="roundRect">
            <a:avLst>
              <a:gd name="adj" fmla="val 50000"/>
            </a:avLst>
          </a:prstGeom>
          <a:solidFill>
            <a:srgbClr val="23242A"/>
          </a:solidFill>
          <a:ln w="9525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FBBF24"/>
                </a:solidFill>
                <a:latin typeface="Arial"/>
              </a:rPr>
              <a:t>Zero-Shot Radiography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71432" y="2834640"/>
            <a:ext cx="2185416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1432" y="2926080"/>
            <a:ext cx="2185416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Trained exclusively on 377,000 chest X-rays paired with natural clinical reports from MIMIC-CXR.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Classifies 14 pathology conditions without requiring manual bounding-box annotations.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Achieved zero-shot radiologist-level AUROC (0.889) matching supervised baseline models.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806440"/>
            <a:ext cx="10652760" cy="594360"/>
          </a:xfrm>
          <a:prstGeom prst="roundRect">
            <a:avLst>
              <a:gd name="adj" fmla="val 16000"/>
            </a:avLst>
          </a:prstGeom>
          <a:solidFill>
            <a:srgbClr val="0F2636"/>
          </a:solidFill>
          <a:ln w="12700">
            <a:solidFill>
              <a:srgbClr val="1B5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8154" y="5934455"/>
            <a:ext cx="50292" cy="3383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5" y="5897879"/>
            <a:ext cx="102504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34D399"/>
                </a:solidFill>
                <a:latin typeface="Arial"/>
              </a:rPr>
              <a:t>PARADIGM SHIFT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We have transitioned from training isolated classifiers per disease to adapting large-scale multimodal foundation models through domain fine-tuning and parameter-efficient adapters (LoRA).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Multimodal AI in Healthcare  |  IEEE Seminar  |  Presenter: Bezaleel Paul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TRANSLATIONAL MEDICINE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High-Impact Clinical Application Domains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Where multimodal AI transforms patient care: acute radiology triaging, oncology staging, and continuous ICU telemetry.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3429000" cy="3977639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074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1874520"/>
            <a:ext cx="1810512" cy="219456"/>
          </a:xfrm>
          <a:prstGeom prst="roundRect">
            <a:avLst>
              <a:gd name="adj" fmla="val 50000"/>
            </a:avLst>
          </a:prstGeom>
          <a:solidFill>
            <a:srgbClr val="09304A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00B4D8"/>
                </a:solidFill>
                <a:latin typeface="Arial"/>
              </a:rPr>
              <a:t>AUTOMATED RADIOLOGY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67128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Emergency Department Chest X-Ray Prioritization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606040"/>
            <a:ext cx="2002536" cy="201168"/>
          </a:xfrm>
          <a:prstGeom prst="roundRect">
            <a:avLst>
              <a:gd name="adj" fmla="val 50000"/>
            </a:avLst>
          </a:prstGeom>
          <a:solidFill>
            <a:srgbClr val="0A233C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00B4D8"/>
                </a:solidFill>
                <a:latin typeface="Arial"/>
              </a:rPr>
              <a:t>DATASET: MIMIC-CXR / CheXpert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92608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17520"/>
            <a:ext cx="306324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Problem: Overloaded radiology queues delay urgent diagnosis of pneumothorax, effusion, and pneumonia.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Multimodal Solution: Evaluates X-ray pixels simultaneously with triage vitals (SpO2, respiration rate) and chief complaint.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Clinical Impact: Reduces critical case turnaround time by 64%; automatically flags life-threatening abnormalities for immediate physician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691640"/>
            <a:ext cx="3429000" cy="3977639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42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0" y="1874520"/>
            <a:ext cx="2002536" cy="219456"/>
          </a:xfrm>
          <a:prstGeom prst="roundRect">
            <a:avLst>
              <a:gd name="adj" fmla="val 50000"/>
            </a:avLst>
          </a:prstGeom>
          <a:solidFill>
            <a:srgbClr val="27295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A78BFA"/>
                </a:solidFill>
                <a:latin typeface="Arial"/>
              </a:rPr>
              <a:t>MULTIMODAL ONCOLOGY &amp; STAGING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67128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Gigapixel Histology + Multi-Omics Profiling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606040"/>
            <a:ext cx="2642616" cy="201168"/>
          </a:xfrm>
          <a:prstGeom prst="roundRect">
            <a:avLst>
              <a:gd name="adj" fmla="val 50000"/>
            </a:avLst>
          </a:prstGeom>
          <a:solidFill>
            <a:srgbClr val="1B1F4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A78BFA"/>
                </a:solidFill>
                <a:latin typeface="Arial"/>
              </a:rPr>
              <a:t>DATASET: The Cancer Genome Atlas (TCGA)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92608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017520"/>
            <a:ext cx="306324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Problem: Tumor recurrence and chemotherapy response cannot be predicted from biopsy slide morphology alone.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Multimodal Solution: Fuses whole slide digital pathology (WSI) with genomic sequencing (RNA-seq) and clinical staging EHR.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Clinical Impact: Yields +31% higher C-index for 5-year patient survival prognosis; identifies candidate patients for immunotherapy.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691640"/>
            <a:ext cx="3429000" cy="3977639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195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83879" y="1874520"/>
            <a:ext cx="2514600" cy="219456"/>
          </a:xfrm>
          <a:prstGeom prst="roundRect">
            <a:avLst>
              <a:gd name="adj" fmla="val 50000"/>
            </a:avLst>
          </a:prstGeom>
          <a:solidFill>
            <a:srgbClr val="12363F"/>
          </a:solidFill>
          <a:ln w="9525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34D399"/>
                </a:solidFill>
                <a:latin typeface="Arial"/>
              </a:rPr>
              <a:t>ICU EARLY WARNING &amp; SEPSIS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167128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Continuous High-Frequency Waveforms + EHR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2606040"/>
            <a:ext cx="2002536" cy="201168"/>
          </a:xfrm>
          <a:prstGeom prst="roundRect">
            <a:avLst>
              <a:gd name="adj" fmla="val 50000"/>
            </a:avLst>
          </a:prstGeom>
          <a:solidFill>
            <a:srgbClr val="0F2636"/>
          </a:solidFill>
          <a:ln w="9525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34D399"/>
                </a:solidFill>
                <a:latin typeface="Arial"/>
              </a:rPr>
              <a:t>DATASET: PhysioNet / MIMIC-IV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292608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3017520"/>
            <a:ext cx="306324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Problem: Sepsis mortality increases by 7.6% for every hour of delayed antibiotic intervention.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Multimodal Solution: Continuously ingests 12-lead ECG waveforms, arterial blood pressure streams, lab panels, and clinical nurse notes.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Clinical Impact: Forecasts septic shock 6 to 8 hours prior to clinical onset, dramatically reducing ICU mortality rates.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52760" cy="594360"/>
          </a:xfrm>
          <a:prstGeom prst="roundRect">
            <a:avLst>
              <a:gd name="adj" fmla="val 16000"/>
            </a:avLst>
          </a:prstGeom>
          <a:solidFill>
            <a:srgbClr val="0A233C"/>
          </a:solidFill>
          <a:ln w="12700">
            <a:solidFill>
              <a:srgbClr val="075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8154" y="5934455"/>
            <a:ext cx="50292" cy="3383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5" y="5897879"/>
            <a:ext cx="102504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0B4D8"/>
                </a:solidFill>
                <a:latin typeface="Arial"/>
              </a:rPr>
              <a:t>HEALTH ECONOMICS IMPACT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Hospital trials show multimodal clinical decision support systems reduce avoidable diagnostic readmissions by 19.2% and shorten emergency department wait times by 42 minutes.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Multimodal AI in Healthcare  |  IEEE Seminar  |  Presenter: Bezaleel Paul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ENGINEERING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Crucial Technical Challenges &amp; Failure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Deploying multimodal AI into safety-critical hospital environments requires overcoming fundamental engineering and statistical hurdles.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5212080" cy="2121408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5F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1874520"/>
            <a:ext cx="1938528" cy="219456"/>
          </a:xfrm>
          <a:prstGeom prst="roundRect">
            <a:avLst>
              <a:gd name="adj" fmla="val 50000"/>
            </a:avLst>
          </a:prstGeom>
          <a:solidFill>
            <a:srgbClr val="36243B"/>
          </a:solidFill>
          <a:ln w="9525">
            <a:solidFill>
              <a:srgbClr val="83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FB7185"/>
                </a:solidFill>
                <a:latin typeface="Arial"/>
              </a:rPr>
              <a:t>THE MISSING MODALITY DILEMMA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48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Incomplete Clinical Workups in the Real World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441448"/>
            <a:ext cx="484632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532888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Vulnerability: In clinical practice, not every patient undergoes an MRI, genomic sequencing, or complete lab panels.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Engineered Mitigation: Solution: Robust multimodal tensor imputation, modality dropout training (e.g. DropMod), and gated confidence mechanisms that gracefully degrade to available signals.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5212080" cy="2121408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5F4F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874520"/>
            <a:ext cx="2386584" cy="219456"/>
          </a:xfrm>
          <a:prstGeom prst="roundRect">
            <a:avLst>
              <a:gd name="adj" fmla="val 50000"/>
            </a:avLst>
          </a:prstGeom>
          <a:solidFill>
            <a:srgbClr val="36322A"/>
          </a:solidFill>
          <a:ln w="9525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FBBF24"/>
                </a:solidFill>
                <a:latin typeface="Arial"/>
              </a:rPr>
              <a:t>CLINICAL HALLUCINATION &amp; FACTUALITY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Uncalibrated Generative Generative Language Risks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41448"/>
            <a:ext cx="484632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32888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Vulnerability: Vision-Language models can hallucinate non-existent radiological findings (e.g., claiming 'no fracture' when a fracture is present).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Engineered Mitigation: Solution: Medical fact-checking layers, reinforcement learning with physician feedback (RLHF), and constrained decoding enforcing clinical ontology consistency.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77639"/>
            <a:ext cx="5212080" cy="2121408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42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4160520"/>
            <a:ext cx="2578608" cy="219456"/>
          </a:xfrm>
          <a:prstGeom prst="roundRect">
            <a:avLst>
              <a:gd name="adj" fmla="val 50000"/>
            </a:avLst>
          </a:prstGeom>
          <a:solidFill>
            <a:srgbClr val="27295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A78BFA"/>
                </a:solidFill>
                <a:latin typeface="Arial"/>
              </a:rPr>
              <a:t>DATA SILOS, PRIVACY &amp; HIPAA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34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Hospital Firewalls Prevent Centralized Data Aggregation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4727448"/>
            <a:ext cx="484632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818888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Vulnerability: Medical institutions cannot share raw patient identifiable data due to HIPAA, GDPR, and proprietary security policies.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Engineered Mitigation: Solution: Federated Multimodal Learning (FML), where model gradients are aggregated centrally while sensitive patient scans and EHR stay locally isolated.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977639"/>
            <a:ext cx="5212080" cy="2121408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225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4160520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17344E"/>
          </a:solidFill>
          <a:ln w="9525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4CC9F0"/>
                </a:solidFill>
                <a:latin typeface="Arial"/>
              </a:rPr>
              <a:t>MODALITY DOMINANCE &amp; CONFOUNDING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34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One Modality Drowning Out Subtle Biomarkers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727448"/>
            <a:ext cx="484632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818888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Vulnerability: During joint training, high-capacity vision backbones often overfit to spurious shortcuts (hospital tokens, patient age) while ignoring subtle lab indicators.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Engineered Mitigation: Solution: Gradient blend balancing, modality-specific learning rate scheduling, and counterfactual cross-modal regularization.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Multimodal AI in Healthcare  |  IEEE Seminar  |  Presenter: Bezaleel Paul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GOVERNANCE &amp; INTERPRETABILITY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Explainability, Interpretability &amp; IEEE Standards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A black-box model is clinically non-deployable. Clinicians must verify the anatomical and linguistic basis of every algorithmic recommendation.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5166360" cy="393192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075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1956816"/>
            <a:ext cx="45720" cy="1828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1920240"/>
            <a:ext cx="45628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00B4D8"/>
                </a:solidFill>
                <a:latin typeface="Arial"/>
              </a:rPr>
              <a:t>MULTIMODAL EXPLAINABILITY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331720"/>
            <a:ext cx="4800600" cy="694944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0843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2404872"/>
            <a:ext cx="4581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Visual Attribution (Grad-CAM):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Projects class activation gradients onto convolutional feature maps to generate spatial heatmaps over anatomical lesions.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108960"/>
            <a:ext cx="4800600" cy="694944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3A37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182112"/>
            <a:ext cx="4581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Cross-Attention Rollout: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Visualizes attention weights between clinical report sentences and corresponding X-ray regions (bi-directional grounding).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886200"/>
            <a:ext cx="4800600" cy="694944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174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959352"/>
            <a:ext cx="4581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Biomarker Shapley Values (SHAP):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Quantifies exact contribution of individual lab vitals (e.g. SpO2 vs WBC vs Temperature) toward the diagnostic probability.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663440"/>
            <a:ext cx="4800600" cy="694944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534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736592"/>
            <a:ext cx="4581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Counterfactual Explanations: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'If the patient's SpO2 had been 98% instead of 91%, prediction shifts from Pneumonia to Normal.'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691640"/>
            <a:ext cx="5166360" cy="393192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25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1956816"/>
            <a:ext cx="45720" cy="18288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1920240"/>
            <a:ext cx="45628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4CC9F0"/>
                </a:solidFill>
                <a:latin typeface="Arial"/>
              </a:rPr>
              <a:t>IEEE STANDARDS &amp; REGULATORY COMPLIANCE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2331720"/>
            <a:ext cx="4800600" cy="694944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1E4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404872"/>
            <a:ext cx="4581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IEEE P2801 Standard: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Standard for Quality Management of Datasets for Medical Artificial Intelligence (protocols for multimodal labeling and bias detection).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108960"/>
            <a:ext cx="4800600" cy="694944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3A37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3182112"/>
            <a:ext cx="4581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IEEE P2802 Standard: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Standard for Verification and Validation of Medical AI Models (benchmarks for clinical safety, sensitivity, and calibration).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886200"/>
            <a:ext cx="4800600" cy="694944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174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3959352"/>
            <a:ext cx="4581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FDA SaMD Guidelines: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Software as a Medical Device pre-market clearance framework; mandates rigorous clinical trial validation and human-in-the-loop oversight.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4663440"/>
            <a:ext cx="4800600" cy="694944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534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736592"/>
            <a:ext cx="4581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Good Machine Learning Practice (GMLP):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Joint FDA/Health Canada/UK MHRA principles for trustworthy medical AI lifecycle management.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806440"/>
            <a:ext cx="10652760" cy="594360"/>
          </a:xfrm>
          <a:prstGeom prst="roundRect">
            <a:avLst>
              <a:gd name="adj" fmla="val 16000"/>
            </a:avLst>
          </a:prstGeom>
          <a:solidFill>
            <a:srgbClr val="0F2636"/>
          </a:solidFill>
          <a:ln w="12700">
            <a:solidFill>
              <a:srgbClr val="1B5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8154" y="5934455"/>
            <a:ext cx="50292" cy="3383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5" y="5897879"/>
            <a:ext cx="102504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34D399"/>
                </a:solidFill>
                <a:latin typeface="Arial"/>
              </a:rPr>
              <a:t>CLINICIAN-IN-THE-LOOP PRINCIPLE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Multimodal AI systems are engineered to augment—never replace—physician judgement, providing second opinions backed by auditable visual and tabular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Multimodal AI in Healthcare  |  IEEE Seminar  |  Presenter: Bezaleel Paul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COMPANION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Companion Project: MedMultiSync Live Cloud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An interactive, reproducible Multimodal Clinical Decision Support System running in Google Colab with Gradio cloud sharing.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3429000" cy="3977639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074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1874520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09304A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00B4D8"/>
                </a:solidFill>
                <a:latin typeface="Arial"/>
              </a:rPr>
              <a:t>STAGE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6712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rial"/>
              </a:rPr>
              <a:t>INPUT MODALITIES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51460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51760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Chest X-Ray Upload (or 1-click clinical presets: Pneumonia, Cardiomegaly, Atelectasis, Normal).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Patient EHR Vitals: Age, Heart Rate, Respiration Rate, SpO2 %, Temp °C, Systolic BP, WBC.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Clinical Chief Complaint / Narrative Symptom text from physician examination.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691640"/>
            <a:ext cx="3429000" cy="3977639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42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874520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7295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A78BFA"/>
                </a:solidFill>
                <a:latin typeface="Arial"/>
              </a:rPr>
              <a:t>STAGE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16712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rial"/>
              </a:rPr>
              <a:t>MULTIMODAL INFERENCE 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51460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651760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Vision Backbone: PyTorch Convolutional Encoder extracting spatial pulmonary features.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EHR Normalizer &amp; NLP Embedder: Standardized biomarker scaling + semantic clinical vocabulary mapping.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Cross-Attention Gated Fusion: Dynamically weights visual vs physiological vs narrative tokens.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691640"/>
            <a:ext cx="3429000" cy="3977639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195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83879" y="1874520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12363F"/>
          </a:solidFill>
          <a:ln w="9525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34D399"/>
                </a:solidFill>
                <a:latin typeface="Arial"/>
              </a:rPr>
              <a:t>STAGE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16712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rial"/>
              </a:rPr>
              <a:t>EXPLAINABLE CLINICAL OUTPUTS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2514600"/>
            <a:ext cx="306324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2651760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Diagnostic Probabilities: Multi-class calibrated confidence bar gauges across 4 conditions.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Grad-CAM Visual Heatmap: Jet colormap overlay pinpointing anatomical lesion coordinates.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Modality Attribution Breakdown: Quantifies percentage contribution (Image vs Vitals vs Notes).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• Auto-Generated SOAP Report: Standardized clinical impression and treatment recommendations.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806440"/>
            <a:ext cx="10652760" cy="594360"/>
          </a:xfrm>
          <a:prstGeom prst="roundRect">
            <a:avLst>
              <a:gd name="adj" fmla="val 16000"/>
            </a:avLst>
          </a:prstGeom>
          <a:solidFill>
            <a:srgbClr val="0F2636"/>
          </a:solidFill>
          <a:ln w="12700">
            <a:solidFill>
              <a:srgbClr val="1B5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8154" y="5934455"/>
            <a:ext cx="50292" cy="3383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5" y="5897879"/>
            <a:ext cx="102504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34D399"/>
                </a:solidFill>
                <a:latin typeface="Arial"/>
              </a:rPr>
              <a:t>LIVE DEMONSTRATION READY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The project is packaged as a 1-click Google Colab notebook ('Multimodal_Healthcare_AI_Colab.ipynb') providing an instant public URL via Gradio for live audience demonstration.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Multimodal AI in Healthcare  |  IEEE Seminar  |  Presenter: Bezaleel Paul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ACADEMIC GROUNDING &amp;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Key IEEE Scientific Literature &amp; Benchmarks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Our presentation and companion project are anchored in authoritative peer-reviewed IEEE publications and top-tier biomedical AI venues.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10652760" cy="7315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074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801368"/>
            <a:ext cx="4178808" cy="201168"/>
          </a:xfrm>
          <a:prstGeom prst="roundRect">
            <a:avLst>
              <a:gd name="adj" fmla="val 50000"/>
            </a:avLst>
          </a:prstGeom>
          <a:solidFill>
            <a:srgbClr val="09304A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00B4D8"/>
                </a:solidFill>
                <a:latin typeface="Arial"/>
              </a:rPr>
              <a:t>IEEE Journal of Biomedical and Health Informatics (J-BHI, 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39112"/>
            <a:ext cx="10378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Multimodal Deep Learning in Healthcare: A Comprehensive Survey of Fusion Strategies, Challenges, and Clinical Horizons — Established the taxonomic benchmark for early, intermediate, and late fusion; documented the +18-24% AUROC advantage of cross-attention over unimodal baselines.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496312"/>
            <a:ext cx="10652760" cy="7315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42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2606040"/>
            <a:ext cx="3730752" cy="201168"/>
          </a:xfrm>
          <a:prstGeom prst="roundRect">
            <a:avLst>
              <a:gd name="adj" fmla="val 50000"/>
            </a:avLst>
          </a:prstGeom>
          <a:solidFill>
            <a:srgbClr val="27295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A78BFA"/>
                </a:solidFill>
                <a:latin typeface="Arial"/>
              </a:rPr>
              <a:t>IEEE Transactions on Biomedical Engineering (TBME, 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43784"/>
            <a:ext cx="10378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Cross-Modal Co-Attention Networks for Joint Representation of Electronic Health Records and Medical Radiographs — Formulated bidirectional query-key attention mechanisms between clinical diagnostic notes and chest radiograph visual patch tokens.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0984"/>
            <a:ext cx="10652760" cy="7315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195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410712"/>
            <a:ext cx="1298448" cy="201168"/>
          </a:xfrm>
          <a:prstGeom prst="roundRect">
            <a:avLst>
              <a:gd name="adj" fmla="val 50000"/>
            </a:avLst>
          </a:prstGeom>
          <a:solidFill>
            <a:srgbClr val="12363F"/>
          </a:solidFill>
          <a:ln w="9525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34D399"/>
                </a:solidFill>
                <a:latin typeface="Arial"/>
              </a:rPr>
              <a:t>IEEE Access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48456"/>
            <a:ext cx="10378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Federated Multimodal Representation Learning for Privacy-Preserving Distributed Medical Intelligence — Demonstrated cross-institutional multimodal training across 12 hospital networks without sharing raw patient DICOM or EHR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05656"/>
            <a:ext cx="10652760" cy="7315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5F4F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215384"/>
            <a:ext cx="3026664" cy="201168"/>
          </a:xfrm>
          <a:prstGeom prst="roundRect">
            <a:avLst>
              <a:gd name="adj" fmla="val 50000"/>
            </a:avLst>
          </a:prstGeom>
          <a:solidFill>
            <a:srgbClr val="36322A"/>
          </a:solidFill>
          <a:ln w="9525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FBBF24"/>
                </a:solidFill>
                <a:latin typeface="Arial"/>
              </a:rPr>
              <a:t>IEEE Reviews in Biomedical Engineering (2024)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53128"/>
            <a:ext cx="10378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Explainable Multimodal Artificial Intelligence for Clinical Decision Support: Visual Saliency, Uncertainty, and Verification — Synthesized best practices for Grad-CAM anatomical verification and confidence calibration required by hospital clinical safety boards.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10328"/>
            <a:ext cx="10652760" cy="731520"/>
          </a:xfrm>
          <a:prstGeom prst="roundRect">
            <a:avLst>
              <a:gd name="adj" fmla="val 6000"/>
            </a:avLst>
          </a:prstGeom>
          <a:solidFill>
            <a:srgbClr val="141E3C"/>
          </a:solidFill>
          <a:ln w="12700">
            <a:solidFill>
              <a:srgbClr val="225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5020056"/>
            <a:ext cx="2834640" cy="201168"/>
          </a:xfrm>
          <a:prstGeom prst="roundRect">
            <a:avLst>
              <a:gd name="adj" fmla="val 50000"/>
            </a:avLst>
          </a:prstGeom>
          <a:solidFill>
            <a:srgbClr val="17344E"/>
          </a:solidFill>
          <a:ln w="9525">
            <a:solidFill>
              <a:srgbClr val="2C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 spc="40">
                <a:solidFill>
                  <a:srgbClr val="4CC9F0"/>
                </a:solidFill>
                <a:latin typeface="Arial"/>
              </a:rPr>
              <a:t>Nature Medicine (2023) / Nature MMI (2024)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57800"/>
            <a:ext cx="10378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CBD5E1"/>
                </a:solidFill>
                <a:latin typeface="Arial"/>
              </a:rPr>
              <a:t>Towards Generalist Biomedical AI &amp; BioMedCLIP: Large-Scale Multimodal Representation Learning — Demonstrated the foundation model paradigm: zero-shot transfer across diverse imaging modalities paired with clinical natural language.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806440"/>
            <a:ext cx="10652760" cy="594360"/>
          </a:xfrm>
          <a:prstGeom prst="roundRect">
            <a:avLst>
              <a:gd name="adj" fmla="val 16000"/>
            </a:avLst>
          </a:prstGeom>
          <a:solidFill>
            <a:srgbClr val="0A233C"/>
          </a:solidFill>
          <a:ln w="12700">
            <a:solidFill>
              <a:srgbClr val="075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8154" y="5934455"/>
            <a:ext cx="50292" cy="3383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5" y="5897879"/>
            <a:ext cx="102504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0B4D8"/>
                </a:solidFill>
                <a:latin typeface="Arial"/>
              </a:rPr>
              <a:t>LITERATURE SYNTHESIS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The peer-reviewed consensus validates that multimodality is not merely an incremental enhancement, but a foundational requirement for clinical-grade reliability.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Multimodal AI in Healthcare  |  IEEE Seminar  |  Presenter: Bezaleel Paul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THE NEXT FRONTIER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The Horizon: Generalist Medical AI (GMAI)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Moving from narrow, single-disease detectors toward versatile, multimodal clinical intelligence partners at the bedside.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5212080" cy="2121408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074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1874520"/>
            <a:ext cx="2258568" cy="219456"/>
          </a:xfrm>
          <a:prstGeom prst="roundRect">
            <a:avLst>
              <a:gd name="adj" fmla="val 50000"/>
            </a:avLst>
          </a:prstGeom>
          <a:solidFill>
            <a:srgbClr val="09304A"/>
          </a:solidFill>
          <a:ln w="9525">
            <a:solidFill>
              <a:srgbClr val="066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00B4D8"/>
                </a:solidFill>
                <a:latin typeface="Arial"/>
              </a:rPr>
              <a:t>01. EMBODIED BEDSIDE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48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Continuous Patient Ambient Sensing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441448"/>
            <a:ext cx="484632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560320"/>
            <a:ext cx="4846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Computer vision cameras monitoring patient delirium and mobility + non-contact radar vitals + continuous voice recording during rounds to draft real-time clinical notes.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5212080" cy="2121408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42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874520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272950"/>
          </a:solidFill>
          <a:ln w="9525">
            <a:solidFill>
              <a:srgbClr val="594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A78BFA"/>
                </a:solidFill>
                <a:latin typeface="Arial"/>
              </a:rPr>
              <a:t>02. MULTIMODAL SURGICAL ROBOTICS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Real-Time Intraoperative Guidance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41448"/>
            <a:ext cx="484632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4846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Overlaying preoperative 3D CT/MRI scans directly onto live robotic laparoscopy video feeds via AR, highlighting hidden blood vessels and tumor margins.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77639"/>
            <a:ext cx="5212080" cy="2121408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195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4160520"/>
            <a:ext cx="2130552" cy="219456"/>
          </a:xfrm>
          <a:prstGeom prst="roundRect">
            <a:avLst>
              <a:gd name="adj" fmla="val 50000"/>
            </a:avLst>
          </a:prstGeom>
          <a:solidFill>
            <a:srgbClr val="12363F"/>
          </a:solidFill>
          <a:ln w="9525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34D399"/>
                </a:solidFill>
                <a:latin typeface="Arial"/>
              </a:rPr>
              <a:t>03. CLOSED-LOOP THERAPY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34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Autonomous Adaptive Dosing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4727448"/>
            <a:ext cx="484632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846320"/>
            <a:ext cx="4846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Integrating continuous blood glucose telemetry with metabolic rate and dietary logs to autonomously modulate insulin infusion pumps in intensive care.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977639"/>
            <a:ext cx="5212080" cy="2121408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5F4F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4160520"/>
            <a:ext cx="2322576" cy="219456"/>
          </a:xfrm>
          <a:prstGeom prst="roundRect">
            <a:avLst>
              <a:gd name="adj" fmla="val 50000"/>
            </a:avLst>
          </a:prstGeom>
          <a:solidFill>
            <a:srgbClr val="36322A"/>
          </a:solidFill>
          <a:ln w="9525">
            <a:solidFill>
              <a:srgbClr val="836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 spc="40">
                <a:solidFill>
                  <a:srgbClr val="FBBF24"/>
                </a:solidFill>
                <a:latin typeface="Arial"/>
              </a:rPr>
              <a:t>04. INTERACTIVE CLINICAL REASONING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34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Arial"/>
              </a:rPr>
              <a:t>Multimodal Physician Dialogue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727448"/>
            <a:ext cx="4846320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20"/>
            <a:ext cx="4846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rial"/>
              </a:rPr>
              <a:t>Clinicians interrogate complex oncology cases interactively: 'Show me all areas on the histology slide that correlate with EGFR mutation expression.'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2025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Multimodal AI in Healthcare  |  IEEE Seminar  |  Presenter: Bezaleel Paul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2025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0B4D8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180">
                <a:solidFill>
                  <a:srgbClr val="00B4D8"/>
                </a:solidFill>
                <a:latin typeface="Arial"/>
              </a:rPr>
              <a:t>SUMMARY &amp;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"/>
            <a:ext cx="10058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8FAFC"/>
                </a:solidFill>
                <a:latin typeface="Arial"/>
              </a:rPr>
              <a:t>Conclusion, Key Takeaways &amp; Live Demonstration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66928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005840"/>
            <a:ext cx="10588752" cy="41148"/>
          </a:xfrm>
          <a:prstGeom prst="rect">
            <a:avLst/>
          </a:prstGeom>
          <a:solidFill>
            <a:srgbClr val="2C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rial"/>
              </a:rPr>
              <a:t>Multimodal AI bridges the gap between raw medical sensory data and holistic clinical understanding.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6217920" cy="393192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075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1956816"/>
            <a:ext cx="45720" cy="1828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1920240"/>
            <a:ext cx="56144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00B4D8"/>
                </a:solidFill>
                <a:latin typeface="Arial"/>
              </a:rPr>
              <a:t>CORE SEMINAR TAKEAWAYS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331720"/>
            <a:ext cx="5852159" cy="9144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0843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2423160"/>
            <a:ext cx="56327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1. Medicine is Inherently Multimodal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Clinicians never diagnose in a vacuum; integrating imaging, physiological signals, and narrative clinical history resolves ambiguities that baffle unimodal models.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355848"/>
            <a:ext cx="5852159" cy="9144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3A37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447288"/>
            <a:ext cx="56327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2. Cross-Attention Unlocks Synergy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Intermediate cross-attention fusion achieves superior clinical accuracy by enabling bidirectional reasoning between anatomical visual features and laboratory biomarkers.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379976"/>
            <a:ext cx="5852159" cy="914400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174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471416"/>
            <a:ext cx="56327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3. Interpretability &amp; Standards are Paramount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Arial"/>
              </a:rPr>
              <a:t>Real-world translation demands verifiable attribution (Grad-CAM, SHAP), robust handling of missing modalities, and compliance with IEEE P2801/P2802 benchmarks.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1691640"/>
            <a:ext cx="4160520" cy="3931920"/>
          </a:xfrm>
          <a:prstGeom prst="roundRect">
            <a:avLst>
              <a:gd name="adj" fmla="val 8000"/>
            </a:avLst>
          </a:prstGeom>
          <a:solidFill>
            <a:srgbClr val="141E3C"/>
          </a:solidFill>
          <a:ln w="12700">
            <a:solidFill>
              <a:srgbClr val="207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956816"/>
            <a:ext cx="45720" cy="1828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4383" y="1920240"/>
            <a:ext cx="355701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spc="60">
                <a:solidFill>
                  <a:srgbClr val="34D399"/>
                </a:solidFill>
                <a:latin typeface="Arial"/>
              </a:rPr>
              <a:t>INTERACTIVE DEMONSTRATION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2331720"/>
            <a:ext cx="3794759" cy="438912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404872"/>
            <a:ext cx="3611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8FAFC"/>
                </a:solidFill>
                <a:latin typeface="Arial"/>
              </a:rPr>
              <a:t>Project Name: MedMultiSync: Multimodal Clinical Decision 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2834639"/>
            <a:ext cx="3794759" cy="438912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2907791"/>
            <a:ext cx="3611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8FAFC"/>
                </a:solidFill>
                <a:latin typeface="Arial"/>
              </a:rPr>
              <a:t>Cloud Platform: Google Colab Notebook with 1-Click Live Gradio 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3337560"/>
            <a:ext cx="3794759" cy="438912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3410712"/>
            <a:ext cx="3611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8FAFC"/>
                </a:solidFill>
                <a:latin typeface="Arial"/>
              </a:rPr>
              <a:t>Features: Chest X-Ray + Vitals + Notes -&gt; Grad-CAM + Report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3840480"/>
            <a:ext cx="3794759" cy="438912"/>
          </a:xfrm>
          <a:prstGeom prst="roundRect">
            <a:avLst>
              <a:gd name="adj" fmla="val 6000"/>
            </a:avLst>
          </a:prstGeom>
          <a:solidFill>
            <a:srgbClr val="1A2647"/>
          </a:solidFill>
          <a:ln w="12700">
            <a:solidFill>
              <a:srgbClr val="2C3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3913632"/>
            <a:ext cx="3611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8FAFC"/>
                </a:solidFill>
                <a:latin typeface="Arial"/>
              </a:rPr>
              <a:t>Presenter: Bezaleel Paul N  |  B.Tech CSE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60" y="4480560"/>
            <a:ext cx="3794759" cy="960120"/>
          </a:xfrm>
          <a:prstGeom prst="roundRect">
            <a:avLst>
              <a:gd name="adj" fmla="val 6000"/>
            </a:avLst>
          </a:prstGeom>
          <a:solidFill>
            <a:srgbClr val="2F2D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4572000"/>
            <a:ext cx="36118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F8FAFC"/>
                </a:solidFill>
                <a:latin typeface="Arial"/>
              </a:rPr>
              <a:t>Questions &amp; Discussion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F8FAFC"/>
                </a:solidFill>
                <a:latin typeface="Arial"/>
              </a:rPr>
              <a:t>Thank you! Let's proceed to the live interactive demonstration.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806440"/>
            <a:ext cx="10652760" cy="594360"/>
          </a:xfrm>
          <a:prstGeom prst="roundRect">
            <a:avLst>
              <a:gd name="adj" fmla="val 16000"/>
            </a:avLst>
          </a:prstGeom>
          <a:solidFill>
            <a:srgbClr val="0A233C"/>
          </a:solidFill>
          <a:ln w="12700">
            <a:solidFill>
              <a:srgbClr val="075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8154" y="5934455"/>
            <a:ext cx="50292" cy="3383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5" y="5897879"/>
            <a:ext cx="102504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0B4D8"/>
                </a:solidFill>
                <a:latin typeface="Arial"/>
              </a:rPr>
              <a:t>PROJECT ARTIFACTS AVAILABLE   </a:t>
            </a:r>
            <a:r>
              <a:rPr sz="1100" b="0" i="0">
                <a:solidFill>
                  <a:srgbClr val="CBD5E1"/>
                </a:solidFill>
                <a:latin typeface="Arial"/>
              </a:rPr>
              <a:t>Full Python codebase, Google Colab notebook (.ipynb), pre-generated clinical sample cases, and high-resolution slides are packaged in the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AI in Healthcare</dc:title>
  <dc:subject>IEEE Seminar on Multimodal Diagnostics, Cross-Attention &amp; Precision Medicine</dc:subject>
  <dc:creator>Bezaleel Paul 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