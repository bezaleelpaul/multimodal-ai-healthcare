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18288"/>
          </a:xfrm>
          <a:prstGeom prst="rect">
            <a:avLst/>
          </a:prstGeom>
          <a:solidFill>
            <a:srgbClr val="286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64040" y="4526280"/>
            <a:ext cx="4206240" cy="4206240"/>
          </a:xfrm>
          <a:prstGeom prst="ellipse">
            <a:avLst/>
          </a:prstGeom>
          <a:noFill/>
          <a:ln w="12700">
            <a:solidFill>
              <a:srgbClr val="131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5120640"/>
            <a:ext cx="3017520" cy="3017520"/>
          </a:xfrm>
          <a:prstGeom prst="ellipse">
            <a:avLst/>
          </a:prstGeom>
          <a:noFill/>
          <a:ln w="12700">
            <a:solidFill>
              <a:srgbClr val="1A2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52760" y="5715000"/>
            <a:ext cx="1828800" cy="1828800"/>
          </a:xfrm>
          <a:prstGeom prst="ellipse">
            <a:avLst/>
          </a:prstGeom>
          <a:noFill/>
          <a:ln w="12700">
            <a:solidFill>
              <a:srgbClr val="1F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7043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220">
                <a:solidFill>
                  <a:srgbClr val="00B4D8"/>
                </a:solidFill>
                <a:latin typeface="Arial"/>
              </a:rPr>
              <a:t>B.TECH CSE   ·   SEMINAR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500" b="1" i="0">
                <a:solidFill>
                  <a:srgbClr val="F8FAFC"/>
                </a:solidFill>
                <a:latin typeface="Arial"/>
              </a:rPr>
              <a:t>AI in Software Design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500" b="1" i="0">
                <a:solidFill>
                  <a:srgbClr val="F8FAFC"/>
                </a:solidFill>
                <a:latin typeface="Arial"/>
              </a:rPr>
              <a:t>&amp;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54096"/>
            <a:ext cx="868680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255264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4CC9F0"/>
                </a:solidFill>
                <a:latin typeface="Arial"/>
              </a:rPr>
              <a:t>From UML modeling to AI systems, ML pipelines and MLOps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90">
                <a:solidFill>
                  <a:srgbClr val="4CC9F0"/>
                </a:solidFill>
                <a:latin typeface="Arial"/>
              </a:rPr>
              <a:t>TRADITIONAL 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3840480"/>
            <a:ext cx="1272540" cy="47548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Requirements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49980" y="4078224"/>
            <a:ext cx="274320" cy="0"/>
          </a:xfrm>
          <a:prstGeom prst="line">
            <a:avLst/>
          </a:prstGeom>
          <a:ln w="1778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24300" y="3840480"/>
            <a:ext cx="1272540" cy="47548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Design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96840" y="4078224"/>
            <a:ext cx="274320" cy="0"/>
          </a:xfrm>
          <a:prstGeom prst="line">
            <a:avLst/>
          </a:prstGeom>
          <a:ln w="1778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71160" y="3840480"/>
            <a:ext cx="1272540" cy="47548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Code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43700" y="4078224"/>
            <a:ext cx="274320" cy="0"/>
          </a:xfrm>
          <a:prstGeom prst="line">
            <a:avLst/>
          </a:prstGeom>
          <a:ln w="1778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18020" y="3840480"/>
            <a:ext cx="1272540" cy="47548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Test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90560" y="4078224"/>
            <a:ext cx="274320" cy="0"/>
          </a:xfrm>
          <a:prstGeom prst="line">
            <a:avLst/>
          </a:prstGeom>
          <a:ln w="1778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64880" y="3840480"/>
            <a:ext cx="1272540" cy="47548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Deploy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37420" y="4078224"/>
            <a:ext cx="274320" cy="0"/>
          </a:xfrm>
          <a:prstGeom prst="line">
            <a:avLst/>
          </a:prstGeom>
          <a:ln w="1778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11740" y="3840480"/>
            <a:ext cx="1272540" cy="47548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Maintain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90288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90">
                <a:solidFill>
                  <a:srgbClr val="A78BFA"/>
                </a:solidFill>
                <a:latin typeface="Arial"/>
              </a:rPr>
              <a:t>AI / ML ENGINEERING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4590288"/>
            <a:ext cx="1272540" cy="475488"/>
          </a:xfrm>
          <a:prstGeom prst="roundRect">
            <a:avLst>
              <a:gd name="adj" fmla="val 14000"/>
            </a:avLst>
          </a:prstGeom>
          <a:solidFill>
            <a:srgbClr val="212448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49980" y="4828031"/>
            <a:ext cx="274320" cy="0"/>
          </a:xfrm>
          <a:prstGeom prst="line">
            <a:avLst/>
          </a:prstGeom>
          <a:ln w="1778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924300" y="4590288"/>
            <a:ext cx="1272540" cy="475488"/>
          </a:xfrm>
          <a:prstGeom prst="roundRect">
            <a:avLst>
              <a:gd name="adj" fmla="val 14000"/>
            </a:avLst>
          </a:prstGeom>
          <a:solidFill>
            <a:srgbClr val="212448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Train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96840" y="4828031"/>
            <a:ext cx="274320" cy="0"/>
          </a:xfrm>
          <a:prstGeom prst="line">
            <a:avLst/>
          </a:prstGeom>
          <a:ln w="1778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71160" y="4590288"/>
            <a:ext cx="1272540" cy="475488"/>
          </a:xfrm>
          <a:prstGeom prst="roundRect">
            <a:avLst>
              <a:gd name="adj" fmla="val 14000"/>
            </a:avLst>
          </a:prstGeom>
          <a:solidFill>
            <a:srgbClr val="212448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Evaluate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43700" y="4828031"/>
            <a:ext cx="274320" cy="0"/>
          </a:xfrm>
          <a:prstGeom prst="line">
            <a:avLst/>
          </a:prstGeom>
          <a:ln w="1778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018020" y="4590288"/>
            <a:ext cx="1272540" cy="475488"/>
          </a:xfrm>
          <a:prstGeom prst="roundRect">
            <a:avLst>
              <a:gd name="adj" fmla="val 14000"/>
            </a:avLst>
          </a:prstGeom>
          <a:solidFill>
            <a:srgbClr val="212448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Deploy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90560" y="4828031"/>
            <a:ext cx="274320" cy="0"/>
          </a:xfrm>
          <a:prstGeom prst="line">
            <a:avLst/>
          </a:prstGeom>
          <a:ln w="1778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564880" y="4590288"/>
            <a:ext cx="1272540" cy="475488"/>
          </a:xfrm>
          <a:prstGeom prst="roundRect">
            <a:avLst>
              <a:gd name="adj" fmla="val 14000"/>
            </a:avLst>
          </a:prstGeom>
          <a:solidFill>
            <a:srgbClr val="212448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Monitor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37420" y="4828031"/>
            <a:ext cx="274320" cy="0"/>
          </a:xfrm>
          <a:prstGeom prst="line">
            <a:avLst/>
          </a:prstGeom>
          <a:ln w="1778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11740" y="4590288"/>
            <a:ext cx="1272540" cy="475488"/>
          </a:xfrm>
          <a:prstGeom prst="roundRect">
            <a:avLst>
              <a:gd name="adj" fmla="val 14000"/>
            </a:avLst>
          </a:prstGeom>
          <a:solidFill>
            <a:srgbClr val="212448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Retrain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577840"/>
            <a:ext cx="1056132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5840784"/>
            <a:ext cx="64008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 dirty="0">
                <a:solidFill>
                  <a:srgbClr val="94A3B8"/>
                </a:solidFill>
                <a:latin typeface="Arial"/>
              </a:rPr>
              <a:t>Presenter</a:t>
            </a:r>
            <a:r>
              <a:rPr lang="en-US" sz="1200" b="0" i="0" dirty="0">
                <a:solidFill>
                  <a:srgbClr val="94A3B8"/>
                </a:solidFill>
                <a:latin typeface="Arial"/>
              </a:rPr>
              <a:t>1</a:t>
            </a:r>
            <a:r>
              <a:rPr sz="1200" b="0" i="0" dirty="0">
                <a:solidFill>
                  <a:srgbClr val="94A3B8"/>
                </a:solidFill>
                <a:latin typeface="Arial"/>
              </a:rPr>
              <a:t>   </a:t>
            </a:r>
            <a:r>
              <a:rPr sz="1500" b="1" i="0" dirty="0">
                <a:solidFill>
                  <a:srgbClr val="F8FAFC"/>
                </a:solidFill>
                <a:latin typeface="Arial"/>
              </a:rPr>
              <a:t>Bezaleel Paul 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760720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 spc="40">
                <a:solidFill>
                  <a:srgbClr val="00B4D8"/>
                </a:solidFill>
                <a:latin typeface="Arial"/>
              </a:rPr>
              <a:t>UML  →  AI/ML  →  MLOps  →  Responsible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089904"/>
            <a:ext cx="10561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 dirty="0" err="1">
                <a:solidFill>
                  <a:srgbClr val="94A3B8"/>
                </a:solidFill>
                <a:latin typeface="Arial"/>
              </a:rPr>
              <a:t>B.Tech</a:t>
            </a:r>
            <a:r>
              <a:rPr sz="1100" b="0" i="0" dirty="0">
                <a:solidFill>
                  <a:srgbClr val="94A3B8"/>
                </a:solidFill>
                <a:latin typeface="Arial"/>
              </a:rPr>
              <a:t> Computer Science Engineering   |   Seminar deck  ·  22 slides  ·  20+ diagrams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4211E5-3507-B2E0-7FCA-7E1C504C4025}"/>
              </a:ext>
            </a:extLst>
          </p:cNvPr>
          <p:cNvSpPr txBox="1"/>
          <p:nvPr/>
        </p:nvSpPr>
        <p:spPr>
          <a:xfrm>
            <a:off x="3356610" y="5813351"/>
            <a:ext cx="64008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 dirty="0">
                <a:solidFill>
                  <a:srgbClr val="94A3B8"/>
                </a:solidFill>
                <a:latin typeface="Arial"/>
              </a:rPr>
              <a:t>Presenter</a:t>
            </a:r>
            <a:r>
              <a:rPr lang="en-US" sz="1200" b="0" i="0" dirty="0">
                <a:solidFill>
                  <a:srgbClr val="94A3B8"/>
                </a:solidFill>
                <a:latin typeface="Arial"/>
              </a:rPr>
              <a:t>2</a:t>
            </a:r>
            <a:r>
              <a:rPr sz="1200" b="0" i="0" dirty="0">
                <a:solidFill>
                  <a:srgbClr val="94A3B8"/>
                </a:solidFill>
                <a:latin typeface="Arial"/>
              </a:rPr>
              <a:t>   </a:t>
            </a:r>
            <a:r>
              <a:rPr lang="en-US" sz="1500" b="1" dirty="0">
                <a:solidFill>
                  <a:srgbClr val="F8FAFC"/>
                </a:solidFill>
                <a:latin typeface="Arial"/>
              </a:rPr>
              <a:t>Akash R Rajpurohit </a:t>
            </a:r>
            <a:endParaRPr sz="1500" b="1" i="0" dirty="0">
              <a:solidFill>
                <a:srgbClr val="F8FAFC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How This Deck Zooms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Every diagram answers one question — why do we need the next one?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55648"/>
            <a:ext cx="2104948" cy="30175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755648"/>
            <a:ext cx="2104948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975104"/>
            <a:ext cx="17026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65B79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487168"/>
            <a:ext cx="17026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rial"/>
              </a:rPr>
              <a:t>The Basics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761488"/>
            <a:ext cx="17026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00B4D8"/>
                </a:solidFill>
                <a:latin typeface="Arial"/>
              </a:rPr>
              <a:t>Traditional software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" y="3236976"/>
            <a:ext cx="1702612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3383280"/>
            <a:ext cx="17391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Software development lifecycle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The eight UML diagrams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Design artifacts &amp; 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" y="4389120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00B4D8"/>
                </a:solidFill>
                <a:latin typeface="Arial"/>
              </a:rPr>
              <a:t>Slides 3-8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72460" y="1755648"/>
            <a:ext cx="2104948" cy="30175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72460" y="1755648"/>
            <a:ext cx="2104948" cy="4572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73628" y="1975104"/>
            <a:ext cx="17026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286584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3628" y="2487168"/>
            <a:ext cx="17026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rial"/>
              </a:rPr>
              <a:t>The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3628" y="2761488"/>
            <a:ext cx="17026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4CC9F0"/>
                </a:solidFill>
                <a:latin typeface="Arial"/>
              </a:rPr>
              <a:t>Why AI changes 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3628" y="3236976"/>
            <a:ext cx="1702612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73628" y="3383280"/>
            <a:ext cx="17391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4CC9F0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Software engineering meets AI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4CC9F0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New artifacts: data, model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4CC9F0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The AI / ML lifecycle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3628" y="4389120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17344E"/>
          </a:solidFill>
          <a:ln w="9525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4CC9F0"/>
                </a:solidFill>
                <a:latin typeface="Arial"/>
              </a:rPr>
              <a:t>Slides 9-10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42001" y="1755648"/>
            <a:ext cx="2104948" cy="30175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42001" y="1755648"/>
            <a:ext cx="2104948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43169" y="1975104"/>
            <a:ext cx="17026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776028"/>
                </a:solidFill>
                <a:latin typeface="Arial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3169" y="2487168"/>
            <a:ext cx="17026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rial"/>
              </a:rPr>
              <a:t>The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3169" y="2761488"/>
            <a:ext cx="17026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FBBF24"/>
                </a:solidFill>
                <a:latin typeface="Arial"/>
              </a:rPr>
              <a:t>AI architecture &amp; pipelines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43169" y="3236976"/>
            <a:ext cx="1702612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43169" y="3383280"/>
            <a:ext cx="17391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FBBF24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Production ML pipeline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FBBF24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AI system architecture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FBBF24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Models &amp; evaluation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43169" y="438912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36322A"/>
          </a:solidFill>
          <a:ln w="9525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FBBF24"/>
                </a:solidFill>
                <a:latin typeface="Arial"/>
              </a:rPr>
              <a:t>Slides 11-13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1542" y="1755648"/>
            <a:ext cx="2104948" cy="30175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11542" y="1755648"/>
            <a:ext cx="2104948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12710" y="1975104"/>
            <a:ext cx="17026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D695C"/>
                </a:solidFill>
                <a:latin typeface="Arial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2710" y="2487168"/>
            <a:ext cx="17026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rial"/>
              </a:rPr>
              <a:t>The Operations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12710" y="2761488"/>
            <a:ext cx="17026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4D399"/>
                </a:solidFill>
                <a:latin typeface="Arial"/>
              </a:rPr>
              <a:t>MLOps, GenAI &amp; monitoring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2710" y="3236976"/>
            <a:ext cx="1702612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12710" y="3383280"/>
            <a:ext cx="17391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34D399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MLOps architecture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34D399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Feedback loop &amp; drift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34D399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LLM and RAG architecture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12710" y="438912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2363F"/>
          </a:solidFill>
          <a:ln w="9525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34D399"/>
                </a:solidFill>
                <a:latin typeface="Arial"/>
              </a:rPr>
              <a:t>Slides 14-17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81083" y="1755648"/>
            <a:ext cx="2104948" cy="30175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581083" y="1755648"/>
            <a:ext cx="2104948" cy="4572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82251" y="1975104"/>
            <a:ext cx="17026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773D54"/>
                </a:solidFill>
                <a:latin typeface="Arial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2251" y="2487168"/>
            <a:ext cx="17026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rial"/>
              </a:rPr>
              <a:t>The Safeguard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2251" y="2761488"/>
            <a:ext cx="17026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FB7185"/>
                </a:solidFill>
                <a:latin typeface="Arial"/>
              </a:rPr>
              <a:t>Testing &amp; responsible AI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82251" y="3236976"/>
            <a:ext cx="1702612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782251" y="3383280"/>
            <a:ext cx="17391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FB7185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Three AI test suites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FB7185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NIST AI RMF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 i="0">
                <a:solidFill>
                  <a:srgbClr val="FB7185"/>
                </a:solidFill>
                <a:latin typeface="Arial"/>
              </a:rPr>
              <a:t>▸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SE vs AI engineering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82251" y="438912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36243B"/>
          </a:solidFill>
          <a:ln w="9525">
            <a:solidFill>
              <a:srgbClr val="83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FB7185"/>
                </a:solidFill>
                <a:latin typeface="Arial"/>
              </a:rPr>
              <a:t>Slides 18-22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5029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60">
                <a:solidFill>
                  <a:srgbClr val="94A3B8"/>
                </a:solidFill>
                <a:latin typeface="Arial"/>
              </a:rPr>
              <a:t>ZOOM-IN PATH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321808"/>
            <a:ext cx="100309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 i="0">
                <a:solidFill>
                  <a:srgbClr val="F8FAFC"/>
                </a:solidFill>
                <a:latin typeface="Arial"/>
              </a:rPr>
              <a:t>Software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506016" y="5550408"/>
            <a:ext cx="128016" cy="0"/>
          </a:xfrm>
          <a:prstGeom prst="line">
            <a:avLst/>
          </a:prstGeom>
          <a:ln w="13970">
            <a:solidFill>
              <a:srgbClr val="3589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634032" y="5321808"/>
            <a:ext cx="100309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 i="0">
                <a:solidFill>
                  <a:srgbClr val="F8FAFC"/>
                </a:solidFill>
                <a:latin typeface="Arial"/>
              </a:rPr>
              <a:t>UML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637129" y="5550408"/>
            <a:ext cx="128016" cy="0"/>
          </a:xfrm>
          <a:prstGeom prst="line">
            <a:avLst/>
          </a:prstGeom>
          <a:ln w="13970">
            <a:solidFill>
              <a:srgbClr val="3589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2765145" y="5321808"/>
            <a:ext cx="100309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 i="0">
                <a:solidFill>
                  <a:srgbClr val="F8FAFC"/>
                </a:solidFill>
                <a:latin typeface="Arial"/>
              </a:rPr>
              <a:t>AI system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768242" y="5550408"/>
            <a:ext cx="128016" cy="0"/>
          </a:xfrm>
          <a:prstGeom prst="line">
            <a:avLst/>
          </a:prstGeom>
          <a:ln w="13970">
            <a:solidFill>
              <a:srgbClr val="3589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3896258" y="5321808"/>
            <a:ext cx="100309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 i="0">
                <a:solidFill>
                  <a:srgbClr val="F8FAFC"/>
                </a:solidFill>
                <a:latin typeface="Arial"/>
              </a:rPr>
              <a:t>ML lifecycle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899355" y="5550408"/>
            <a:ext cx="128016" cy="0"/>
          </a:xfrm>
          <a:prstGeom prst="line">
            <a:avLst/>
          </a:prstGeom>
          <a:ln w="13970">
            <a:solidFill>
              <a:srgbClr val="3589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5027371" y="5321808"/>
            <a:ext cx="100309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 i="0">
                <a:solidFill>
                  <a:srgbClr val="F8FAFC"/>
                </a:solidFill>
                <a:latin typeface="Arial"/>
              </a:rPr>
              <a:t>Model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030468" y="5550408"/>
            <a:ext cx="128016" cy="0"/>
          </a:xfrm>
          <a:prstGeom prst="line">
            <a:avLst/>
          </a:prstGeom>
          <a:ln w="13970">
            <a:solidFill>
              <a:srgbClr val="3589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6158484" y="5321808"/>
            <a:ext cx="100309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 i="0">
                <a:solidFill>
                  <a:srgbClr val="F8FAFC"/>
                </a:solidFill>
                <a:latin typeface="Arial"/>
              </a:rPr>
              <a:t>Pipeline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161580" y="5550408"/>
            <a:ext cx="128016" cy="0"/>
          </a:xfrm>
          <a:prstGeom prst="line">
            <a:avLst/>
          </a:prstGeom>
          <a:ln w="13970">
            <a:solidFill>
              <a:srgbClr val="3589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289596" y="5321808"/>
            <a:ext cx="100309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 i="0">
                <a:solidFill>
                  <a:srgbClr val="F8FAFC"/>
                </a:solidFill>
                <a:latin typeface="Arial"/>
              </a:rPr>
              <a:t>MLOps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292693" y="5550408"/>
            <a:ext cx="128016" cy="0"/>
          </a:xfrm>
          <a:prstGeom prst="line">
            <a:avLst/>
          </a:prstGeom>
          <a:ln w="13970">
            <a:solidFill>
              <a:srgbClr val="3589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8420709" y="5321808"/>
            <a:ext cx="100309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 i="0">
                <a:solidFill>
                  <a:srgbClr val="F8FAFC"/>
                </a:solidFill>
                <a:latin typeface="Arial"/>
              </a:rPr>
              <a:t>GenAI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423806" y="5550408"/>
            <a:ext cx="128016" cy="0"/>
          </a:xfrm>
          <a:prstGeom prst="line">
            <a:avLst/>
          </a:prstGeom>
          <a:ln w="13970">
            <a:solidFill>
              <a:srgbClr val="3589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9551822" y="5321808"/>
            <a:ext cx="100309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 i="0">
                <a:solidFill>
                  <a:srgbClr val="F8FAFC"/>
                </a:solidFill>
                <a:latin typeface="Arial"/>
              </a:rPr>
              <a:t>Monitoring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554919" y="5550408"/>
            <a:ext cx="128016" cy="0"/>
          </a:xfrm>
          <a:prstGeom prst="line">
            <a:avLst/>
          </a:prstGeom>
          <a:ln w="13970">
            <a:solidFill>
              <a:srgbClr val="3589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10682935" y="5321808"/>
            <a:ext cx="100309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850" b="0" i="0">
                <a:solidFill>
                  <a:srgbClr val="F8FAFC"/>
                </a:solidFill>
                <a:latin typeface="Arial"/>
              </a:rPr>
              <a:t>Responsible AI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5943600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12253F"/>
          </a:solidFill>
          <a:ln w="12700">
            <a:solidFill>
              <a:srgbClr val="245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03834" y="6071616"/>
            <a:ext cx="50292" cy="256032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22376" y="6035040"/>
            <a:ext cx="1078077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4CC9F0"/>
                </a:solidFill>
                <a:latin typeface="Arial"/>
              </a:rPr>
              <a:t>Design does not disappear.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AI systems still need architecture and UML — they simply add data, model, experimentation, evaluation and risk artifacts around the software.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A  ·  TRADITIONAL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How Traditional Software Is Designed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Requirements drive an architecture, the architecture drives code, and tests prove the result behaves exactly as specified.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10512"/>
            <a:ext cx="1620012" cy="493776"/>
          </a:xfrm>
          <a:prstGeom prst="roundRect">
            <a:avLst>
              <a:gd name="adj" fmla="val 14000"/>
            </a:avLst>
          </a:prstGeom>
          <a:solidFill>
            <a:srgbClr val="0A2640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Requirements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22932" y="2057400"/>
            <a:ext cx="292608" cy="0"/>
          </a:xfrm>
          <a:prstGeom prst="line">
            <a:avLst/>
          </a:prstGeom>
          <a:ln w="2032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15540" y="1810512"/>
            <a:ext cx="1620012" cy="493776"/>
          </a:xfrm>
          <a:prstGeom prst="roundRect">
            <a:avLst>
              <a:gd name="adj" fmla="val 14000"/>
            </a:avLst>
          </a:prstGeom>
          <a:solidFill>
            <a:srgbClr val="0A2640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Design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35552" y="2057400"/>
            <a:ext cx="292608" cy="0"/>
          </a:xfrm>
          <a:prstGeom prst="line">
            <a:avLst/>
          </a:prstGeom>
          <a:ln w="2032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28160" y="1810512"/>
            <a:ext cx="1620012" cy="493776"/>
          </a:xfrm>
          <a:prstGeom prst="roundRect">
            <a:avLst>
              <a:gd name="adj" fmla="val 14000"/>
            </a:avLst>
          </a:prstGeom>
          <a:solidFill>
            <a:srgbClr val="0A2640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Code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8172" y="2057400"/>
            <a:ext cx="292608" cy="0"/>
          </a:xfrm>
          <a:prstGeom prst="line">
            <a:avLst/>
          </a:prstGeom>
          <a:ln w="2032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40780" y="1810512"/>
            <a:ext cx="1620012" cy="493776"/>
          </a:xfrm>
          <a:prstGeom prst="roundRect">
            <a:avLst>
              <a:gd name="adj" fmla="val 14000"/>
            </a:avLst>
          </a:prstGeom>
          <a:solidFill>
            <a:srgbClr val="0A2640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Testing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0792" y="2057400"/>
            <a:ext cx="292608" cy="0"/>
          </a:xfrm>
          <a:prstGeom prst="line">
            <a:avLst/>
          </a:prstGeom>
          <a:ln w="2032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53400" y="1810512"/>
            <a:ext cx="1620012" cy="493776"/>
          </a:xfrm>
          <a:prstGeom prst="roundRect">
            <a:avLst>
              <a:gd name="adj" fmla="val 14000"/>
            </a:avLst>
          </a:prstGeom>
          <a:solidFill>
            <a:srgbClr val="0A2640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Deployment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73412" y="2057400"/>
            <a:ext cx="292608" cy="0"/>
          </a:xfrm>
          <a:prstGeom prst="line">
            <a:avLst/>
          </a:prstGeom>
          <a:ln w="2032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66020" y="1810512"/>
            <a:ext cx="1620012" cy="493776"/>
          </a:xfrm>
          <a:prstGeom prst="roundRect">
            <a:avLst>
              <a:gd name="adj" fmla="val 14000"/>
            </a:avLst>
          </a:prstGeom>
          <a:solidFill>
            <a:srgbClr val="0A2640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395728"/>
            <a:ext cx="11183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160">
                <a:solidFill>
                  <a:srgbClr val="94A3B8"/>
                </a:solidFill>
                <a:latin typeface="Arial"/>
              </a:rPr>
              <a:t>THE SOFTWARE DEVELOPMENT LIFE CYCLE (SDLC)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761488"/>
            <a:ext cx="5486400" cy="276148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2999232"/>
            <a:ext cx="45720" cy="1828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" y="2962656"/>
            <a:ext cx="48828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00B4D8"/>
                </a:solidFill>
                <a:latin typeface="Arial"/>
              </a:rPr>
              <a:t>DESIGN ARTIFACTS ENGINEERS PRODUCE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328416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150" b="0" i="0">
                <a:solidFill>
                  <a:srgbClr val="CBD5E1"/>
                </a:solidFill>
                <a:latin typeface="Arial"/>
              </a:rPr>
              <a:t>Use-case model — actors and goals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150" b="0" i="0">
                <a:solidFill>
                  <a:srgbClr val="CBD5E1"/>
                </a:solidFill>
                <a:latin typeface="Arial"/>
              </a:rPr>
              <a:t>Class model — domain objects and rules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150" b="0" i="0">
                <a:solidFill>
                  <a:srgbClr val="CBD5E1"/>
                </a:solidFill>
                <a:latin typeface="Arial"/>
              </a:rPr>
              <a:t>Sequence &amp; activity — runtime behaviour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150" b="0" i="0">
                <a:solidFill>
                  <a:srgbClr val="CBD5E1"/>
                </a:solidFill>
                <a:latin typeface="Arial"/>
              </a:rPr>
              <a:t>Component &amp; deployment — structure and hosting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150" b="0" i="0">
                <a:solidFill>
                  <a:srgbClr val="CBD5E1"/>
                </a:solidFill>
                <a:latin typeface="Arial"/>
              </a:rPr>
              <a:t>Architecture document — layers, data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7550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60">
                <a:solidFill>
                  <a:srgbClr val="94A3B8"/>
                </a:solidFill>
                <a:latin typeface="Arial"/>
              </a:rPr>
              <a:t>Drawn on slides 5-8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2761488"/>
            <a:ext cx="5486400" cy="276148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28232" y="2999232"/>
            <a:ext cx="45720" cy="18288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74536" y="2962656"/>
            <a:ext cx="48828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4CC9F0"/>
                </a:solidFill>
                <a:latin typeface="Arial"/>
              </a:rPr>
              <a:t>WHAT MAKES IT "TRADITIONAL"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3328416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 i="0">
                <a:solidFill>
                  <a:srgbClr val="4CC9F0"/>
                </a:solidFill>
                <a:latin typeface="Arial"/>
              </a:rPr>
              <a:t>▸  </a:t>
            </a:r>
            <a:r>
              <a:rPr sz="1150" b="0" i="0">
                <a:solidFill>
                  <a:srgbClr val="CBD5E1"/>
                </a:solidFill>
                <a:latin typeface="Arial"/>
              </a:rPr>
              <a:t>Behaviour is deterministic — same input, same output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 i="0">
                <a:solidFill>
                  <a:srgbClr val="4CC9F0"/>
                </a:solidFill>
                <a:latin typeface="Arial"/>
              </a:rPr>
              <a:t>▸  </a:t>
            </a:r>
            <a:r>
              <a:rPr sz="1150" b="0" i="0">
                <a:solidFill>
                  <a:srgbClr val="CBD5E1"/>
                </a:solidFill>
                <a:latin typeface="Arial"/>
              </a:rPr>
              <a:t>Correctness = conformance to the specification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 i="0">
                <a:solidFill>
                  <a:srgbClr val="4CC9F0"/>
                </a:solidFill>
                <a:latin typeface="Arial"/>
              </a:rPr>
              <a:t>▸  </a:t>
            </a:r>
            <a:r>
              <a:rPr sz="1150" b="0" i="0">
                <a:solidFill>
                  <a:srgbClr val="CBD5E1"/>
                </a:solidFill>
                <a:latin typeface="Arial"/>
              </a:rPr>
              <a:t>Changes are planned, versioned and released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 i="0">
                <a:solidFill>
                  <a:srgbClr val="4CC9F0"/>
                </a:solidFill>
                <a:latin typeface="Arial"/>
              </a:rPr>
              <a:t>▸  </a:t>
            </a:r>
            <a:r>
              <a:rPr sz="1150" b="0" i="0">
                <a:solidFill>
                  <a:srgbClr val="CBD5E1"/>
                </a:solidFill>
                <a:latin typeface="Arial"/>
              </a:rPr>
              <a:t>Tests are repeatable and failures are visible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 i="0">
                <a:solidFill>
                  <a:srgbClr val="4CC9F0"/>
                </a:solidFill>
                <a:latin typeface="Arial"/>
              </a:rPr>
              <a:t>▸  </a:t>
            </a:r>
            <a:r>
              <a:rPr sz="1150" b="0" i="0">
                <a:solidFill>
                  <a:srgbClr val="CBD5E1"/>
                </a:solidFill>
                <a:latin typeface="Arial"/>
              </a:rPr>
              <a:t>Once deployed, it does not degrade on its 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517550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60">
                <a:solidFill>
                  <a:srgbClr val="94A3B8"/>
                </a:solidFill>
                <a:latin typeface="Arial"/>
              </a:rPr>
              <a:t>Hold this thought — AI breaks the last two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779008"/>
            <a:ext cx="11183112" cy="566928"/>
          </a:xfrm>
          <a:prstGeom prst="roundRect">
            <a:avLst>
              <a:gd name="adj" fmla="val 16000"/>
            </a:avLst>
          </a:prstGeom>
          <a:solidFill>
            <a:srgbClr val="0A233C"/>
          </a:solidFill>
          <a:ln w="12700">
            <a:solidFill>
              <a:srgbClr val="075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3834" y="5907024"/>
            <a:ext cx="50292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2376" y="5870448"/>
            <a:ext cx="1078077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B4D8"/>
                </a:solidFill>
                <a:latin typeface="Arial"/>
              </a:rPr>
              <a:t>Next:   </a:t>
            </a:r>
            <a:r>
              <a:rPr sz="1150" b="0" i="0">
                <a:solidFill>
                  <a:srgbClr val="CBD5E1"/>
                </a:solidFill>
                <a:latin typeface="Arial"/>
              </a:rPr>
              <a:t>the eight diagrams engineers use to describe a system before a single line of code is written.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A  ·  TRADITIONAL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The UML Toolkit — Eight Diagrams, Two 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Structural diagrams describe what the system IS. Behavioural diagrams describe what it DOES.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10512"/>
            <a:ext cx="2660904" cy="1883664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810512"/>
            <a:ext cx="45720" cy="18836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2376" y="2011680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 spc="40">
                <a:solidFill>
                  <a:srgbClr val="00B4D8"/>
                </a:solidFill>
                <a:latin typeface="Arial"/>
              </a:rPr>
              <a:t>BEHAVIOURAL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414016"/>
            <a:ext cx="22219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Use 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" y="2816352"/>
            <a:ext cx="2221992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2962656"/>
            <a:ext cx="22219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Who interacts with the system and what they are allowed to 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6704" y="1810512"/>
            <a:ext cx="2660904" cy="1883664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46704" y="1810512"/>
            <a:ext cx="45720" cy="18836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566160" y="2011680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 spc="40">
                <a:solidFill>
                  <a:srgbClr val="A78BFA"/>
                </a:solidFill>
                <a:latin typeface="Arial"/>
              </a:rPr>
              <a:t>STRUCTURAL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414016"/>
            <a:ext cx="22219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Class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2816352"/>
            <a:ext cx="2221992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66160" y="2962656"/>
            <a:ext cx="22219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Objects, attributes, methods and the relationships between them.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1810512"/>
            <a:ext cx="2660904" cy="1883664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0488" y="1810512"/>
            <a:ext cx="45720" cy="18836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9944" y="2011680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 spc="40">
                <a:solidFill>
                  <a:srgbClr val="00B4D8"/>
                </a:solidFill>
                <a:latin typeface="Arial"/>
              </a:rPr>
              <a:t>BEHAVIOURAL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414016"/>
            <a:ext cx="22219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Sequence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9944" y="2816352"/>
            <a:ext cx="2221992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9944" y="2962656"/>
            <a:ext cx="22219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Messages exchanged between objects, ordered in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34272" y="1810512"/>
            <a:ext cx="2660904" cy="1883664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34272" y="1810512"/>
            <a:ext cx="45720" cy="18836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253728" y="2011680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 spc="40">
                <a:solidFill>
                  <a:srgbClr val="00B4D8"/>
                </a:solidFill>
                <a:latin typeface="Arial"/>
              </a:rPr>
              <a:t>BEHAVIOURAL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2414016"/>
            <a:ext cx="22219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Activity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53728" y="2816352"/>
            <a:ext cx="2221992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53728" y="2962656"/>
            <a:ext cx="22219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Workflow: actions, decisions, branches and parallel paths.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840480"/>
            <a:ext cx="2660904" cy="1883664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" y="3840480"/>
            <a:ext cx="45720" cy="18836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22376" y="4041648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 spc="40">
                <a:solidFill>
                  <a:srgbClr val="00B4D8"/>
                </a:solidFill>
                <a:latin typeface="Arial"/>
              </a:rPr>
              <a:t>BEHAVIOURAL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4443984"/>
            <a:ext cx="22219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State Machine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" y="4846320"/>
            <a:ext cx="2221992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2376" y="4992624"/>
            <a:ext cx="22219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States and transitions of one object or of the system.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46704" y="3840480"/>
            <a:ext cx="2660904" cy="1883664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346704" y="3840480"/>
            <a:ext cx="45720" cy="18836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566160" y="4041648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 spc="40">
                <a:solidFill>
                  <a:srgbClr val="A78BFA"/>
                </a:solidFill>
                <a:latin typeface="Arial"/>
              </a:rPr>
              <a:t>STRUCTURAL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443984"/>
            <a:ext cx="22219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Component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6160" y="4846320"/>
            <a:ext cx="2221992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66160" y="4992624"/>
            <a:ext cx="22219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Major parts of the system and the interfaces between them.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90488" y="3840480"/>
            <a:ext cx="2660904" cy="1883664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90488" y="3840480"/>
            <a:ext cx="45720" cy="18836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409944" y="4041648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 spc="40">
                <a:solidFill>
                  <a:srgbClr val="A78BFA"/>
                </a:solidFill>
                <a:latin typeface="Arial"/>
              </a:rPr>
              <a:t>STRUCTURAL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9944" y="4443984"/>
            <a:ext cx="22219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Deployment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9944" y="4846320"/>
            <a:ext cx="2221992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9944" y="4992624"/>
            <a:ext cx="22219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Nodes, artifacts and where the software actually runs.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34272" y="3840480"/>
            <a:ext cx="2660904" cy="1883664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034272" y="3840480"/>
            <a:ext cx="45720" cy="18836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253728" y="4041648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 spc="40">
                <a:solidFill>
                  <a:srgbClr val="A78BFA"/>
                </a:solidFill>
                <a:latin typeface="Arial"/>
              </a:rPr>
              <a:t>STRUCTURAL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53728" y="4443984"/>
            <a:ext cx="22219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Architecture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53728" y="4846320"/>
            <a:ext cx="2221992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253728" y="4992624"/>
            <a:ext cx="22219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The big picture: layers, services, data and external systems.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5888736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1B1F40"/>
          </a:solidFill>
          <a:ln w="12700">
            <a:solidFill>
              <a:srgbClr val="464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03834" y="6016752"/>
            <a:ext cx="50292" cy="2560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22376" y="5980176"/>
            <a:ext cx="1078077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A78BFA"/>
                </a:solidFill>
                <a:latin typeface="Arial"/>
              </a:rPr>
              <a:t>Architecture diagrams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sit on top of UML: they compose these views into one picture of the deployable system.   Source: Microsoft UML diagram documentation.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A  ·  UML DIAGRAMS  1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Use-Case Diagram &amp; Class Diagram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One view for WHAT the system must do, one for HOW it is structured.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394960" cy="48463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08192" y="1417320"/>
            <a:ext cx="5577840" cy="48463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" y="1627632"/>
            <a:ext cx="45720" cy="1828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1591056"/>
            <a:ext cx="47914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00B4D8"/>
                </a:solidFill>
                <a:latin typeface="Arial"/>
              </a:rPr>
              <a:t>USE CASE — FUNCTIONALITY FROM THE USER'S 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1975104"/>
            <a:ext cx="4480560" cy="3931920"/>
          </a:xfrm>
          <a:prstGeom prst="rect">
            <a:avLst/>
          </a:prstGeom>
          <a:solidFill>
            <a:srgbClr val="0A1B34"/>
          </a:solidFill>
          <a:ln w="13970">
            <a:solidFill>
              <a:srgbClr val="065B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2066544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90">
                <a:solidFill>
                  <a:srgbClr val="047C9B"/>
                </a:solidFill>
                <a:latin typeface="Arial"/>
              </a:rPr>
              <a:t>SYSTEM   ·   ONLINE LEARNING PLATFORM</a:t>
            </a:r>
          </a:p>
        </p:txBody>
      </p:sp>
      <p:sp>
        <p:nvSpPr>
          <p:cNvPr id="17" name="Oval 16"/>
          <p:cNvSpPr/>
          <p:nvPr/>
        </p:nvSpPr>
        <p:spPr>
          <a:xfrm>
            <a:off x="722375" y="2487168"/>
            <a:ext cx="292608" cy="292608"/>
          </a:xfrm>
          <a:prstGeom prst="ellipse">
            <a:avLst/>
          </a:prstGeom>
          <a:noFill/>
          <a:ln w="2032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868680" y="2825496"/>
            <a:ext cx="0" cy="475488"/>
          </a:xfrm>
          <a:prstGeom prst="line">
            <a:avLst/>
          </a:prstGeom>
          <a:ln w="2032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0936" y="2944368"/>
            <a:ext cx="475488" cy="0"/>
          </a:xfrm>
          <a:prstGeom prst="line">
            <a:avLst/>
          </a:prstGeom>
          <a:ln w="2032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67512" y="3300984"/>
            <a:ext cx="201168" cy="292607"/>
          </a:xfrm>
          <a:prstGeom prst="line">
            <a:avLst/>
          </a:prstGeom>
          <a:ln w="2032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" y="3300984"/>
            <a:ext cx="201168" cy="292607"/>
          </a:xfrm>
          <a:prstGeom prst="line">
            <a:avLst/>
          </a:prstGeom>
          <a:ln w="2032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36484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4CC9F0"/>
                </a:solidFill>
                <a:latin typeface="Arial"/>
              </a:rPr>
              <a:t>Learner</a:t>
            </a:r>
          </a:p>
        </p:txBody>
      </p:sp>
      <p:sp>
        <p:nvSpPr>
          <p:cNvPr id="23" name="Oval 22"/>
          <p:cNvSpPr/>
          <p:nvPr/>
        </p:nvSpPr>
        <p:spPr>
          <a:xfrm>
            <a:off x="2286000" y="2286000"/>
            <a:ext cx="2286000" cy="530352"/>
          </a:xfrm>
          <a:prstGeom prst="ellipse">
            <a:avLst/>
          </a:prstGeom>
          <a:solidFill>
            <a:srgbClr val="132943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Log in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051560" y="2551176"/>
            <a:ext cx="1234440" cy="512064"/>
          </a:xfrm>
          <a:prstGeom prst="line">
            <a:avLst/>
          </a:prstGeom>
          <a:ln w="13970">
            <a:solidFill>
              <a:srgbClr val="889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86000" y="2999232"/>
            <a:ext cx="2286000" cy="530352"/>
          </a:xfrm>
          <a:prstGeom prst="ellipse">
            <a:avLst/>
          </a:prstGeom>
          <a:solidFill>
            <a:srgbClr val="132943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Browse catalogue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51560" y="3063240"/>
            <a:ext cx="1234440" cy="201168"/>
          </a:xfrm>
          <a:prstGeom prst="line">
            <a:avLst/>
          </a:prstGeom>
          <a:ln w="13970">
            <a:solidFill>
              <a:srgbClr val="889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286000" y="3712463"/>
            <a:ext cx="2286000" cy="530352"/>
          </a:xfrm>
          <a:prstGeom prst="ellipse">
            <a:avLst/>
          </a:prstGeom>
          <a:solidFill>
            <a:srgbClr val="132943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Enrol in course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51560" y="3063240"/>
            <a:ext cx="1234440" cy="914399"/>
          </a:xfrm>
          <a:prstGeom prst="line">
            <a:avLst/>
          </a:prstGeom>
          <a:ln w="13970">
            <a:solidFill>
              <a:srgbClr val="889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286000" y="4553712"/>
            <a:ext cx="2286000" cy="530352"/>
          </a:xfrm>
          <a:prstGeom prst="ellipse">
            <a:avLst/>
          </a:prstGeom>
          <a:solidFill>
            <a:srgbClr val="132943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Make payment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51560" y="3063240"/>
            <a:ext cx="1234440" cy="1755648"/>
          </a:xfrm>
          <a:prstGeom prst="line">
            <a:avLst/>
          </a:prstGeom>
          <a:ln w="13970">
            <a:solidFill>
              <a:srgbClr val="889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286000" y="5266944"/>
            <a:ext cx="2286000" cy="530352"/>
          </a:xfrm>
          <a:prstGeom prst="ellipse">
            <a:avLst/>
          </a:prstGeom>
          <a:solidFill>
            <a:srgbClr val="132943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Track progress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51560" y="3063240"/>
            <a:ext cx="1234440" cy="2468880"/>
          </a:xfrm>
          <a:prstGeom prst="line">
            <a:avLst/>
          </a:prstGeom>
          <a:ln w="13970">
            <a:solidFill>
              <a:srgbClr val="889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429000" y="4297680"/>
            <a:ext cx="0" cy="256032"/>
          </a:xfrm>
          <a:prstGeom prst="line">
            <a:avLst/>
          </a:prstGeom>
          <a:ln w="16510">
            <a:solidFill>
              <a:srgbClr val="FBBF2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566160" y="431596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BBF24"/>
                </a:solidFill>
                <a:latin typeface="Arial"/>
              </a:rPr>
              <a:t>«include»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6016752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oval = a goal  ·  actor = who performs it  ·  dashed = reuse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627632"/>
            <a:ext cx="45720" cy="1828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55664" y="1591056"/>
            <a:ext cx="497433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A78BFA"/>
                </a:solidFill>
                <a:latin typeface="Arial"/>
              </a:rPr>
              <a:t>CLASS — STATIC STRUCTURE OF THE DOMAIN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1975104"/>
            <a:ext cx="2377440" cy="1353312"/>
          </a:xfrm>
          <a:prstGeom prst="roundRect">
            <a:avLst>
              <a:gd name="adj" fmla="val 5000"/>
            </a:avLst>
          </a:prstGeom>
          <a:solidFill>
            <a:srgbClr val="1A2647"/>
          </a:solidFill>
          <a:ln w="1524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64224" y="1984248"/>
            <a:ext cx="2359152" cy="310896"/>
          </a:xfrm>
          <a:prstGeom prst="rect">
            <a:avLst/>
          </a:prstGeom>
          <a:solidFill>
            <a:srgbClr val="2D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197510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Learner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9944" y="2286000"/>
            <a:ext cx="2267712" cy="10972"/>
          </a:xfrm>
          <a:prstGeom prst="rect">
            <a:avLst/>
          </a:prstGeom>
          <a:solidFill>
            <a:srgbClr val="594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83096" y="2331720"/>
            <a:ext cx="2121408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CBD5E1"/>
                </a:solidFill>
                <a:latin typeface="Arial"/>
              </a:rPr>
              <a:t>- learnerId: String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CBD5E1"/>
                </a:solidFill>
                <a:latin typeface="Arial"/>
              </a:rPr>
              <a:t>- name: String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9944" y="2807208"/>
            <a:ext cx="2267712" cy="10972"/>
          </a:xfrm>
          <a:prstGeom prst="rect">
            <a:avLst/>
          </a:prstGeom>
          <a:solidFill>
            <a:srgbClr val="594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83096" y="2852927"/>
            <a:ext cx="2121408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7061B2"/>
                </a:solidFill>
                <a:latin typeface="Arial"/>
              </a:rPr>
              <a:t>+ enrol(): void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7061B2"/>
                </a:solidFill>
                <a:latin typeface="Arial"/>
              </a:rPr>
              <a:t>+ progress(): Float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1975104"/>
            <a:ext cx="2377440" cy="1353312"/>
          </a:xfrm>
          <a:prstGeom prst="roundRect">
            <a:avLst>
              <a:gd name="adj" fmla="val 5000"/>
            </a:avLst>
          </a:prstGeom>
          <a:solidFill>
            <a:srgbClr val="1A2647"/>
          </a:solidFill>
          <a:ln w="1524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153144" y="1984248"/>
            <a:ext cx="2359152" cy="310896"/>
          </a:xfrm>
          <a:prstGeom prst="rect">
            <a:avLst/>
          </a:prstGeom>
          <a:solidFill>
            <a:srgbClr val="2D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0" y="197510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Course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98864" y="2286000"/>
            <a:ext cx="2267712" cy="10972"/>
          </a:xfrm>
          <a:prstGeom prst="rect">
            <a:avLst/>
          </a:prstGeom>
          <a:solidFill>
            <a:srgbClr val="594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72016" y="2331720"/>
            <a:ext cx="2121408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CBD5E1"/>
                </a:solidFill>
                <a:latin typeface="Arial"/>
              </a:rPr>
              <a:t>- courseCode: String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CBD5E1"/>
                </a:solidFill>
                <a:latin typeface="Arial"/>
              </a:rPr>
              <a:t>- title: String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98864" y="2807208"/>
            <a:ext cx="2267712" cy="10972"/>
          </a:xfrm>
          <a:prstGeom prst="rect">
            <a:avLst/>
          </a:prstGeom>
          <a:solidFill>
            <a:srgbClr val="594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72016" y="2852927"/>
            <a:ext cx="2121408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7061B2"/>
                </a:solidFill>
                <a:latin typeface="Arial"/>
              </a:rPr>
              <a:t>+ seatsLeft(): Int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7061B2"/>
                </a:solidFill>
                <a:latin typeface="Arial"/>
              </a:rPr>
              <a:t>+ publish(): void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6679" y="4315968"/>
            <a:ext cx="2377440" cy="1353312"/>
          </a:xfrm>
          <a:prstGeom prst="roundRect">
            <a:avLst>
              <a:gd name="adj" fmla="val 5000"/>
            </a:avLst>
          </a:prstGeom>
          <a:solidFill>
            <a:srgbClr val="1A2647"/>
          </a:solidFill>
          <a:ln w="1524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35823" y="4325112"/>
            <a:ext cx="2359152" cy="310896"/>
          </a:xfrm>
          <a:prstGeom prst="rect">
            <a:avLst/>
          </a:prstGeom>
          <a:solidFill>
            <a:srgbClr val="2D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26679" y="431596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Enrollment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81544" y="4626864"/>
            <a:ext cx="2267712" cy="10972"/>
          </a:xfrm>
          <a:prstGeom prst="rect">
            <a:avLst/>
          </a:prstGeom>
          <a:solidFill>
            <a:srgbClr val="594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854696" y="4672583"/>
            <a:ext cx="2121408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CBD5E1"/>
                </a:solidFill>
                <a:latin typeface="Arial"/>
              </a:rPr>
              <a:t>- date: DateTime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CBD5E1"/>
                </a:solidFill>
                <a:latin typeface="Arial"/>
              </a:rPr>
              <a:t>- status: Enum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81544" y="5148072"/>
            <a:ext cx="2267712" cy="10972"/>
          </a:xfrm>
          <a:prstGeom prst="rect">
            <a:avLst/>
          </a:prstGeom>
          <a:solidFill>
            <a:srgbClr val="594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854696" y="5193792"/>
            <a:ext cx="2121408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7061B2"/>
                </a:solidFill>
                <a:latin typeface="Arial"/>
              </a:rPr>
              <a:t>+ complete(): void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7061B2"/>
                </a:solidFill>
                <a:latin typeface="Arial"/>
              </a:rPr>
              <a:t>+ refund(): Boolean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732520" y="2606040"/>
            <a:ext cx="411480" cy="0"/>
          </a:xfrm>
          <a:prstGeom prst="line">
            <a:avLst/>
          </a:prstGeom>
          <a:ln w="16510">
            <a:solidFill>
              <a:srgbClr val="7061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686800" y="234086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BBF24"/>
                </a:solidFill>
                <a:latin typeface="Arial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6840" y="234086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BBF24"/>
                </a:solidFill>
                <a:latin typeface="Arial"/>
              </a:rPr>
              <a:t>*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543800" y="3291840"/>
            <a:ext cx="0" cy="1682496"/>
          </a:xfrm>
          <a:prstGeom prst="line">
            <a:avLst/>
          </a:prstGeom>
          <a:ln w="16510">
            <a:solidFill>
              <a:srgbClr val="706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543800" y="4974336"/>
            <a:ext cx="182879" cy="0"/>
          </a:xfrm>
          <a:prstGeom prst="line">
            <a:avLst/>
          </a:prstGeom>
          <a:ln w="16510">
            <a:solidFill>
              <a:srgbClr val="7061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332720" y="3291840"/>
            <a:ext cx="0" cy="1682496"/>
          </a:xfrm>
          <a:prstGeom prst="line">
            <a:avLst/>
          </a:prstGeom>
          <a:ln w="16510">
            <a:solidFill>
              <a:srgbClr val="706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0104120" y="4974336"/>
            <a:ext cx="228600" cy="0"/>
          </a:xfrm>
          <a:prstGeom prst="line">
            <a:avLst/>
          </a:prstGeom>
          <a:ln w="16510">
            <a:solidFill>
              <a:srgbClr val="7061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626096" y="33467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BBF24"/>
                </a:solidFill>
                <a:latin typeface="Arial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08975" y="475488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BBF24"/>
                </a:solidFill>
                <a:latin typeface="Arial"/>
              </a:rPr>
              <a:t>*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80" y="598932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box = class (name · attributes · operations)  ·  line = relationship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A  ·  UML DIAGRAMS  2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Sequence Diagram &amp; Activity Diagram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Behaviour over time: who talks to whom, and in what order the work happens.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394960" cy="48463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08192" y="1417320"/>
            <a:ext cx="5577840" cy="48463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" y="1627632"/>
            <a:ext cx="45720" cy="1828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1591056"/>
            <a:ext cx="47914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00B4D8"/>
                </a:solidFill>
                <a:latin typeface="Arial"/>
              </a:rPr>
              <a:t>SEQUENCE — MESSAGES EXCHANGED OVER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975104"/>
            <a:ext cx="1463040" cy="365760"/>
          </a:xfrm>
          <a:prstGeom prst="roundRect">
            <a:avLst>
              <a:gd name="adj" fmla="val 14000"/>
            </a:avLst>
          </a:prstGeom>
          <a:solidFill>
            <a:srgbClr val="223054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  : UI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1975104"/>
            <a:ext cx="1463040" cy="365760"/>
          </a:xfrm>
          <a:prstGeom prst="roundRect">
            <a:avLst>
              <a:gd name="adj" fmla="val 14000"/>
            </a:avLst>
          </a:prstGeom>
          <a:solidFill>
            <a:srgbClr val="223054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  : Controller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975104"/>
            <a:ext cx="1463040" cy="365760"/>
          </a:xfrm>
          <a:prstGeom prst="roundRect">
            <a:avLst>
              <a:gd name="adj" fmla="val 14000"/>
            </a:avLst>
          </a:prstGeom>
          <a:solidFill>
            <a:srgbClr val="223054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  : Order Service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08760" y="2340864"/>
            <a:ext cx="0" cy="3419856"/>
          </a:xfrm>
          <a:prstGeom prst="line">
            <a:avLst/>
          </a:prstGeom>
          <a:ln w="12700">
            <a:solidFill>
              <a:srgbClr val="1F2C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46120" y="2340864"/>
            <a:ext cx="0" cy="3419856"/>
          </a:xfrm>
          <a:prstGeom prst="line">
            <a:avLst/>
          </a:prstGeom>
          <a:ln w="12700">
            <a:solidFill>
              <a:srgbClr val="1F2C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83480" y="2340864"/>
            <a:ext cx="0" cy="3419856"/>
          </a:xfrm>
          <a:prstGeom prst="line">
            <a:avLst/>
          </a:prstGeom>
          <a:ln w="12700">
            <a:solidFill>
              <a:srgbClr val="1F2C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435607" y="2743200"/>
            <a:ext cx="146304" cy="2468880"/>
          </a:xfrm>
          <a:prstGeom prst="rect">
            <a:avLst/>
          </a:prstGeom>
          <a:solidFill>
            <a:srgbClr val="1D4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72968" y="2926080"/>
            <a:ext cx="146304" cy="2103120"/>
          </a:xfrm>
          <a:prstGeom prst="rect">
            <a:avLst/>
          </a:prstGeom>
          <a:solidFill>
            <a:srgbClr val="1D4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10328" y="3383280"/>
            <a:ext cx="146304" cy="1188719"/>
          </a:xfrm>
          <a:prstGeom prst="rect">
            <a:avLst/>
          </a:prstGeom>
          <a:solidFill>
            <a:srgbClr val="1D4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1508760" y="3063240"/>
            <a:ext cx="1737360" cy="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08760" y="2825496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CBD5E1"/>
                </a:solidFill>
                <a:latin typeface="Arial"/>
              </a:rPr>
              <a:t>1:  submit(order)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46120" y="3611880"/>
            <a:ext cx="1737360" cy="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46120" y="3374136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CBD5E1"/>
                </a:solidFill>
                <a:latin typeface="Arial"/>
              </a:rPr>
              <a:t>2:  validateStock()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246120" y="4160520"/>
            <a:ext cx="1737360" cy="0"/>
          </a:xfrm>
          <a:prstGeom prst="line">
            <a:avLst/>
          </a:prstGeom>
          <a:ln w="17780">
            <a:solidFill>
              <a:srgbClr val="FBBF2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46120" y="3922776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CBD5E1"/>
                </a:solidFill>
                <a:latin typeface="Arial"/>
              </a:rPr>
              <a:t>3:  OK · total ₹2,499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508760" y="4709160"/>
            <a:ext cx="1737360" cy="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508760" y="4471416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CBD5E1"/>
                </a:solidFill>
                <a:latin typeface="Arial"/>
              </a:rPr>
              <a:t>4:  render(receipt)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989320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top → bottom = time  ·  dashed arrow = return message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627632"/>
            <a:ext cx="45720" cy="1828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55664" y="1591056"/>
            <a:ext cx="497433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FBBF24"/>
                </a:solidFill>
                <a:latin typeface="Arial"/>
              </a:rPr>
              <a:t>ACTIVITY — WORKFLOW WITH A DECISION &amp; PARALLELISM</a:t>
            </a:r>
          </a:p>
        </p:txBody>
      </p:sp>
      <p:sp>
        <p:nvSpPr>
          <p:cNvPr id="35" name="Oval 34"/>
          <p:cNvSpPr/>
          <p:nvPr/>
        </p:nvSpPr>
        <p:spPr>
          <a:xfrm>
            <a:off x="8769096" y="1865376"/>
            <a:ext cx="237744" cy="237744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8887968" y="2103120"/>
            <a:ext cx="0" cy="146304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882128" y="2249424"/>
            <a:ext cx="2011680" cy="420624"/>
          </a:xfrm>
          <a:prstGeom prst="roundRect">
            <a:avLst>
              <a:gd name="adj" fmla="val 14000"/>
            </a:avLst>
          </a:prstGeom>
          <a:solidFill>
            <a:srgbClr val="2A292A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Receive request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87968" y="2670048"/>
            <a:ext cx="0" cy="219456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iamond 38"/>
          <p:cNvSpPr/>
          <p:nvPr/>
        </p:nvSpPr>
        <p:spPr>
          <a:xfrm>
            <a:off x="8522208" y="2889504"/>
            <a:ext cx="731520" cy="585216"/>
          </a:xfrm>
          <a:prstGeom prst="diamond">
            <a:avLst/>
          </a:prstGeom>
          <a:solidFill>
            <a:srgbClr val="2F2D2A"/>
          </a:solidFill>
          <a:ln w="1524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22208" y="2889504"/>
            <a:ext cx="73152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8FAFC"/>
                </a:solidFill>
                <a:latin typeface="Arial"/>
              </a:rPr>
              <a:t>valid?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253728" y="3182112"/>
            <a:ext cx="804672" cy="0"/>
          </a:xfrm>
          <a:prstGeom prst="line">
            <a:avLst/>
          </a:prstGeom>
          <a:ln w="1778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90304" y="294436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Arial"/>
              </a:rPr>
              <a:t>yes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0" y="2971800"/>
            <a:ext cx="1554480" cy="420624"/>
          </a:xfrm>
          <a:prstGeom prst="roundRect">
            <a:avLst>
              <a:gd name="adj" fmla="val 14000"/>
            </a:avLst>
          </a:prstGeom>
          <a:solidFill>
            <a:srgbClr val="102C39"/>
          </a:solidFill>
          <a:ln w="12700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Process order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7863840" y="3182112"/>
            <a:ext cx="658368" cy="0"/>
          </a:xfrm>
          <a:prstGeom prst="line">
            <a:avLst/>
          </a:prstGeom>
          <a:ln w="1778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918704" y="294436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B7185"/>
                </a:solidFill>
                <a:latin typeface="Arial"/>
              </a:rPr>
              <a:t>no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2971800"/>
            <a:ext cx="1554480" cy="420624"/>
          </a:xfrm>
          <a:prstGeom prst="roundRect">
            <a:avLst>
              <a:gd name="adj" fmla="val 14000"/>
            </a:avLst>
          </a:prstGeom>
          <a:solidFill>
            <a:srgbClr val="2A1F37"/>
          </a:solidFill>
          <a:ln w="12700">
            <a:solidFill>
              <a:srgbClr val="83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Reject order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086600" y="3392424"/>
            <a:ext cx="0" cy="448056"/>
          </a:xfrm>
          <a:prstGeom prst="line">
            <a:avLst/>
          </a:prstGeom>
          <a:ln w="1778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086600" y="3840480"/>
            <a:ext cx="1801368" cy="0"/>
          </a:xfrm>
          <a:prstGeom prst="line">
            <a:avLst/>
          </a:prstGeom>
          <a:ln w="1778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835640" y="3392424"/>
            <a:ext cx="0" cy="448056"/>
          </a:xfrm>
          <a:prstGeom prst="line">
            <a:avLst/>
          </a:prstGeom>
          <a:ln w="1778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887968" y="3840480"/>
            <a:ext cx="1947672" cy="0"/>
          </a:xfrm>
          <a:prstGeom prst="line">
            <a:avLst/>
          </a:prstGeom>
          <a:ln w="1778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887968" y="3840480"/>
            <a:ext cx="0" cy="182880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7882128" y="4023360"/>
            <a:ext cx="2011680" cy="11887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7909560" y="4142232"/>
            <a:ext cx="0" cy="173736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875520" y="4142232"/>
            <a:ext cx="0" cy="173736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040880" y="4315968"/>
            <a:ext cx="1737360" cy="420624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Save order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52560" y="4315968"/>
            <a:ext cx="1737360" cy="420624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Notify customer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909560" y="4736592"/>
            <a:ext cx="0" cy="164592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875520" y="4736592"/>
            <a:ext cx="0" cy="164592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882128" y="4901184"/>
            <a:ext cx="2011680" cy="11887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8887968" y="5020056"/>
            <a:ext cx="0" cy="265176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8750808" y="5285232"/>
            <a:ext cx="274320" cy="274320"/>
          </a:xfrm>
          <a:prstGeom prst="ellipse">
            <a:avLst/>
          </a:prstGeom>
          <a:noFill/>
          <a:ln w="2032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823960" y="5358384"/>
            <a:ext cx="128016" cy="128016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09360" y="5669280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● start   ◆ decision   ▬ fork / join (parallel)   ◎ final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5989320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Activity diagrams show flow, not which object is responsible.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A  ·  UML DIAGRAMS  3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State Machine Diagram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One object, many states — every transition is triggered by an event and may carry a guard condition.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B4D8"/>
                </a:solidFill>
                <a:latin typeface="Arial"/>
              </a:rPr>
              <a:t>● 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initial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1874519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B4D8"/>
                </a:solidFill>
                <a:latin typeface="Arial"/>
              </a:rPr>
              <a:t>rounded box 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a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1874519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B4D8"/>
                </a:solidFill>
                <a:latin typeface="Arial"/>
              </a:rPr>
              <a:t>◆ 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decision /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74519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0B4D8"/>
                </a:solidFill>
                <a:latin typeface="Arial"/>
              </a:rPr>
              <a:t>◎   </a:t>
            </a:r>
            <a:r>
              <a:rPr sz="950" b="0" i="0">
                <a:solidFill>
                  <a:srgbClr val="CBD5E1"/>
                </a:solidFill>
                <a:latin typeface="Arial"/>
              </a:rPr>
              <a:t>final state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971800"/>
            <a:ext cx="237744" cy="237744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1014984" y="3090672"/>
            <a:ext cx="402336" cy="0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254203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Arial"/>
              </a:rPr>
              <a:t>submit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2788920"/>
            <a:ext cx="1463040" cy="603504"/>
          </a:xfrm>
          <a:prstGeom prst="roundRect">
            <a:avLst>
              <a:gd name="adj" fmla="val 14000"/>
            </a:avLst>
          </a:prstGeom>
          <a:solidFill>
            <a:srgbClr val="223054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Idle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80360" y="3090672"/>
            <a:ext cx="548640" cy="0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34640" y="254203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Arial"/>
              </a:rPr>
              <a:t>start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2788920"/>
            <a:ext cx="1645920" cy="603504"/>
          </a:xfrm>
          <a:prstGeom prst="roundRect">
            <a:avLst>
              <a:gd name="adj" fmla="val 14000"/>
            </a:avLst>
          </a:prstGeom>
          <a:solidFill>
            <a:srgbClr val="142C47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Validating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74920" y="3090672"/>
            <a:ext cx="548640" cy="0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937760" y="254203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Arial"/>
              </a:rPr>
              <a:t>rules ok</a:t>
            </a:r>
          </a:p>
        </p:txBody>
      </p:sp>
      <p:sp>
        <p:nvSpPr>
          <p:cNvPr id="24" name="Diamond 23"/>
          <p:cNvSpPr/>
          <p:nvPr/>
        </p:nvSpPr>
        <p:spPr>
          <a:xfrm>
            <a:off x="5623560" y="2724912"/>
            <a:ext cx="914400" cy="731520"/>
          </a:xfrm>
          <a:prstGeom prst="diamond">
            <a:avLst/>
          </a:prstGeom>
          <a:solidFill>
            <a:srgbClr val="2F2D2A"/>
          </a:solidFill>
          <a:ln w="1524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23560" y="2724912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8FAFC"/>
                </a:solidFill>
                <a:latin typeface="Arial"/>
              </a:rPr>
              <a:t>valid?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37960" y="3090672"/>
            <a:ext cx="640080" cy="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47104" y="27980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Arial"/>
              </a:rPr>
              <a:t>yes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8040" y="2788920"/>
            <a:ext cx="1737360" cy="603504"/>
          </a:xfrm>
          <a:prstGeom prst="roundRect">
            <a:avLst>
              <a:gd name="adj" fmla="val 14000"/>
            </a:avLst>
          </a:prstGeom>
          <a:solidFill>
            <a:srgbClr val="2A292A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Processing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15400" y="3090672"/>
            <a:ext cx="457200" cy="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69680" y="27980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Arial"/>
              </a:rPr>
              <a:t>done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72600" y="2788920"/>
            <a:ext cx="1691640" cy="603504"/>
          </a:xfrm>
          <a:prstGeom prst="roundRect">
            <a:avLst>
              <a:gd name="adj" fmla="val 14000"/>
            </a:avLst>
          </a:prstGeom>
          <a:solidFill>
            <a:srgbClr val="102C39"/>
          </a:solidFill>
          <a:ln w="12700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Completed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064240" y="3090672"/>
            <a:ext cx="228600" cy="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1292840" y="2926079"/>
            <a:ext cx="329184" cy="329184"/>
          </a:xfrm>
          <a:prstGeom prst="ellipse">
            <a:avLst/>
          </a:prstGeom>
          <a:noFill/>
          <a:ln w="2032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375136" y="3008376"/>
            <a:ext cx="164592" cy="164592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6080760" y="3456432"/>
            <a:ext cx="0" cy="749808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72200" y="3611880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B7185"/>
                </a:solidFill>
                <a:latin typeface="Arial"/>
              </a:rPr>
              <a:t>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57800" y="4206240"/>
            <a:ext cx="1645920" cy="603504"/>
          </a:xfrm>
          <a:prstGeom prst="roundRect">
            <a:avLst>
              <a:gd name="adj" fmla="val 14000"/>
            </a:avLst>
          </a:prstGeom>
          <a:solidFill>
            <a:srgbClr val="2A1F37"/>
          </a:solidFill>
          <a:ln w="12700">
            <a:solidFill>
              <a:srgbClr val="83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Error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2148840" y="4507992"/>
            <a:ext cx="3108960" cy="0"/>
          </a:xfrm>
          <a:prstGeom prst="line">
            <a:avLst/>
          </a:prstGeom>
          <a:ln w="1778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48840" y="3419856"/>
            <a:ext cx="0" cy="1088136"/>
          </a:xfrm>
          <a:prstGeom prst="line">
            <a:avLst/>
          </a:prstGeom>
          <a:ln w="1778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0" y="424281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B7185"/>
                </a:solidFill>
                <a:latin typeface="Arial"/>
              </a:rPr>
              <a:t>retry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46720" y="3419856"/>
            <a:ext cx="0" cy="1088136"/>
          </a:xfrm>
          <a:prstGeom prst="line">
            <a:avLst/>
          </a:prstGeom>
          <a:ln w="1778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6903720" y="4507992"/>
            <a:ext cx="1143000" cy="0"/>
          </a:xfrm>
          <a:prstGeom prst="line">
            <a:avLst/>
          </a:prstGeom>
          <a:ln w="17780">
            <a:solidFill>
              <a:srgbClr val="FB71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40880" y="4242816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B7185"/>
                </a:solidFill>
                <a:latin typeface="Arial"/>
              </a:rPr>
              <a:t>timeout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669280"/>
            <a:ext cx="11183112" cy="566928"/>
          </a:xfrm>
          <a:prstGeom prst="roundRect">
            <a:avLst>
              <a:gd name="adj" fmla="val 16000"/>
            </a:avLst>
          </a:prstGeom>
          <a:solidFill>
            <a:srgbClr val="12253F"/>
          </a:solidFill>
          <a:ln w="12700">
            <a:solidFill>
              <a:srgbClr val="245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3834" y="5797296"/>
            <a:ext cx="50292" cy="310896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2376" y="5760720"/>
            <a:ext cx="1078077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4CC9F0"/>
                </a:solidFill>
                <a:latin typeface="Arial"/>
              </a:rPr>
              <a:t>Why it matters for AI: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an AI service is a state machine too — idle → receiving → inferring → returning, with failed and degraded states plus drift-triggered transitions.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A  ·  UML DIAGRAMS  4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Component Diagram &amp; Deployment Diagram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Two structural views: the parts the software is made of, and the machines those parts run 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99616"/>
            <a:ext cx="45720" cy="1828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1463040"/>
            <a:ext cx="71688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00B4D8"/>
                </a:solidFill>
                <a:latin typeface="Arial"/>
              </a:rPr>
              <a:t>COMPONENT — MAJOR PARTS AND THE INTERFACES BETWEEN THEM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74519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A2647"/>
          </a:solidFill>
          <a:ln w="15240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4944" y="1883664"/>
            <a:ext cx="45720" cy="896112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011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33172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BD5E1"/>
                </a:solidFill>
                <a:latin typeface="Arial"/>
              </a:rPr>
              <a:t>UI layer · web &amp; mobile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26664" y="1975104"/>
            <a:ext cx="182880" cy="73152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18104" y="2066543"/>
            <a:ext cx="182880" cy="73152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794760" y="1874519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1A2647"/>
          </a:solidFill>
          <a:ln w="1524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03904" y="1883664"/>
            <a:ext cx="45720" cy="89611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95928" y="2011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Business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5928" y="2331720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BD5E1"/>
                </a:solidFill>
                <a:latin typeface="Arial"/>
              </a:rPr>
              <a:t>services · rules · workflows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18504" y="1975104"/>
            <a:ext cx="182880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9944" y="2066543"/>
            <a:ext cx="182880" cy="73152"/>
          </a:xfrm>
          <a:prstGeom prst="rect">
            <a:avLst/>
          </a:prstGeom>
          <a:solidFill>
            <a:srgbClr val="066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086600" y="1874519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A2647"/>
          </a:solidFill>
          <a:ln w="1524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95744" y="1883664"/>
            <a:ext cx="45720" cy="89611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87768" y="2011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Data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7768" y="233172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BD5E1"/>
                </a:solidFill>
                <a:latin typeface="Arial"/>
              </a:rPr>
              <a:t>repositories · ORM · caching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27464" y="1975104"/>
            <a:ext cx="18288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518904" y="2066543"/>
            <a:ext cx="182880" cy="73152"/>
          </a:xfrm>
          <a:prstGeom prst="rect">
            <a:avLst/>
          </a:prstGeom>
          <a:solidFill>
            <a:srgbClr val="594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195560" y="1874519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1A2647"/>
          </a:solidFill>
          <a:ln w="1524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204704" y="1883664"/>
            <a:ext cx="45720" cy="89611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96728" y="20116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96728" y="233172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BD5E1"/>
                </a:solidFill>
                <a:latin typeface="Arial"/>
              </a:rPr>
              <a:t>payments · email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347704" y="1975104"/>
            <a:ext cx="182880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439144" y="2066543"/>
            <a:ext cx="182880" cy="73152"/>
          </a:xfrm>
          <a:prstGeom prst="rect">
            <a:avLst/>
          </a:prstGeom>
          <a:solidFill>
            <a:srgbClr val="836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3337560" y="2331720"/>
            <a:ext cx="457200" cy="0"/>
          </a:xfrm>
          <a:prstGeom prst="line">
            <a:avLst/>
          </a:prstGeom>
          <a:ln w="17780">
            <a:solidFill>
              <a:srgbClr val="3589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629400" y="2331720"/>
            <a:ext cx="457200" cy="0"/>
          </a:xfrm>
          <a:prstGeom prst="line">
            <a:avLst/>
          </a:prstGeom>
          <a:ln w="17780">
            <a:solidFill>
              <a:srgbClr val="3589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738360" y="2331720"/>
            <a:ext cx="457200" cy="0"/>
          </a:xfrm>
          <a:prstGeom prst="line">
            <a:avLst/>
          </a:prstGeom>
          <a:ln w="17780">
            <a:solidFill>
              <a:srgbClr val="3589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2926080"/>
            <a:ext cx="11183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 spc="40">
                <a:solidFill>
                  <a:srgbClr val="94A3B8"/>
                </a:solidFill>
                <a:latin typeface="Arial"/>
              </a:rPr>
              <a:t>«interface»    IOrderView   ·   IOrderService   ·   IRepository   ·   IPaymentGateway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438144"/>
            <a:ext cx="45720" cy="1828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" y="3401568"/>
            <a:ext cx="71688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A78BFA"/>
                </a:solidFill>
                <a:latin typeface="Arial"/>
              </a:rPr>
              <a:t>DEPLOYMENT — NODES, ARTIFACTS, AND WHERE IT RUNS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3794760"/>
            <a:ext cx="3017520" cy="14173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524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94944" y="3803904"/>
            <a:ext cx="2999232" cy="329184"/>
          </a:xfrm>
          <a:prstGeom prst="rect">
            <a:avLst/>
          </a:prstGeom>
          <a:solidFill>
            <a:srgbClr val="153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04" y="3803904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3C9CBF"/>
                </a:solidFill>
                <a:latin typeface="Arial"/>
              </a:rPr>
              <a:t>«node»   User Device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" y="4261104"/>
            <a:ext cx="1371600" cy="365760"/>
          </a:xfrm>
          <a:prstGeom prst="roundRect">
            <a:avLst>
              <a:gd name="adj" fmla="val 18000"/>
            </a:avLst>
          </a:prstGeom>
          <a:solidFill>
            <a:srgbClr val="132943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80" y="426110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App.apk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736592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Flutter app · local cache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17720" y="3794760"/>
            <a:ext cx="3017520" cy="14173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5240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626864" y="3803904"/>
            <a:ext cx="2999232" cy="329184"/>
          </a:xfrm>
          <a:prstGeom prst="rect">
            <a:avLst/>
          </a:prstGeom>
          <a:solidFill>
            <a:srgbClr val="09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64024" y="3803904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38CAD"/>
                </a:solidFill>
                <a:latin typeface="Arial"/>
              </a:rPr>
              <a:t>«node»   App Server · Docker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00600" y="4261104"/>
            <a:ext cx="1371600" cy="365760"/>
          </a:xfrm>
          <a:prstGeom prst="roundRect">
            <a:avLst>
              <a:gd name="adj" fmla="val 18000"/>
            </a:avLst>
          </a:prstGeom>
          <a:solidFill>
            <a:srgbClr val="0A2640"/>
          </a:solidFill>
          <a:ln w="12700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00600" y="426110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app.jar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4736592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API · AI service · training jobs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49640" y="3794760"/>
            <a:ext cx="3108960" cy="14173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5240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558784" y="3803904"/>
            <a:ext cx="3090672" cy="329184"/>
          </a:xfrm>
          <a:prstGeom prst="rect">
            <a:avLst/>
          </a:prstGeom>
          <a:solidFill>
            <a:srgbClr val="24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95944" y="3803904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806DC6"/>
                </a:solidFill>
                <a:latin typeface="Arial"/>
              </a:rPr>
              <a:t>«node»   Data Server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32519" y="4261104"/>
            <a:ext cx="1371600" cy="365760"/>
          </a:xfrm>
          <a:prstGeom prst="roundRect">
            <a:avLst>
              <a:gd name="adj" fmla="val 18000"/>
            </a:avLst>
          </a:prstGeom>
          <a:solidFill>
            <a:srgbClr val="1E2144"/>
          </a:solidFill>
          <a:ln w="12700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732519" y="426110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schema.sql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2519" y="473659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PostgreSQL · object store · registry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703320" y="4572000"/>
            <a:ext cx="914400" cy="0"/>
          </a:xfrm>
          <a:prstGeom prst="line">
            <a:avLst/>
          </a:prstGeom>
          <a:ln w="1905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703320" y="426110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4CC9F0"/>
                </a:solidFill>
                <a:latin typeface="Arial"/>
              </a:rPr>
              <a:t>REST / JSON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635240" y="4572000"/>
            <a:ext cx="914400" cy="0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635240" y="426110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78BFA"/>
                </a:solidFill>
                <a:latin typeface="Arial"/>
              </a:rPr>
              <a:t>SQL / TLS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614416"/>
            <a:ext cx="11183112" cy="566928"/>
          </a:xfrm>
          <a:prstGeom prst="roundRect">
            <a:avLst>
              <a:gd name="adj" fmla="val 16000"/>
            </a:avLst>
          </a:prstGeom>
          <a:solidFill>
            <a:srgbClr val="1B1F40"/>
          </a:solidFill>
          <a:ln w="12700">
            <a:solidFill>
              <a:srgbClr val="464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03834" y="5742431"/>
            <a:ext cx="50292" cy="3108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22376" y="5705855"/>
            <a:ext cx="1078077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A78BFA"/>
                </a:solidFill>
                <a:latin typeface="Arial"/>
              </a:rPr>
              <a:t>Same system, two views: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the component diagram names the pieces and their contracts; the deployment diagram shows the runtime topology an operator has to monitor.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B  ·  WHY AI CHANGES SOFTWARE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Software Engineering Meets the AI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The traditional pipeline still exists — it now feeds three new engineering lanes that must be designed, versioned and operated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517904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092D47"/>
          </a:solidFill>
          <a:ln w="12700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SOFTWARE  ENGINEERING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8" y="1883664"/>
            <a:ext cx="0" cy="128016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011680"/>
            <a:ext cx="1920240" cy="38404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F77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Requirements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2203704"/>
            <a:ext cx="329183" cy="0"/>
          </a:xfrm>
          <a:prstGeom prst="line">
            <a:avLst/>
          </a:prstGeom>
          <a:ln w="1905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9504" y="2011680"/>
            <a:ext cx="1920240" cy="38404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F77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Architecture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9744" y="2203704"/>
            <a:ext cx="329184" cy="0"/>
          </a:xfrm>
          <a:prstGeom prst="line">
            <a:avLst/>
          </a:prstGeom>
          <a:ln w="1905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38928" y="2011680"/>
            <a:ext cx="1920240" cy="38404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F77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Code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9168" y="2203704"/>
            <a:ext cx="329184" cy="0"/>
          </a:xfrm>
          <a:prstGeom prst="line">
            <a:avLst/>
          </a:prstGeom>
          <a:ln w="1905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88352" y="2011680"/>
            <a:ext cx="1920240" cy="38404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F77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Testing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08592" y="2203704"/>
            <a:ext cx="329184" cy="0"/>
          </a:xfrm>
          <a:prstGeom prst="line">
            <a:avLst/>
          </a:prstGeom>
          <a:ln w="1905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37776" y="2011680"/>
            <a:ext cx="1920240" cy="38404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F77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Integration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9048" y="2395728"/>
            <a:ext cx="0" cy="164592"/>
          </a:xfrm>
          <a:prstGeom prst="line">
            <a:avLst/>
          </a:prstGeom>
          <a:ln w="1905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27448" y="256032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312F2A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AI  SYSTEM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9048" y="2926080"/>
            <a:ext cx="0" cy="128016"/>
          </a:xfrm>
          <a:prstGeom prst="line">
            <a:avLst/>
          </a:prstGeom>
          <a:ln w="1905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20640" y="2926080"/>
            <a:ext cx="0" cy="64008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331720" y="2990088"/>
            <a:ext cx="2788920" cy="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31720" y="2990088"/>
            <a:ext cx="0" cy="64008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77456" y="2926080"/>
            <a:ext cx="0" cy="64008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77456" y="2990088"/>
            <a:ext cx="2788920" cy="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66376" y="2990088"/>
            <a:ext cx="0" cy="64008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66928" y="3054096"/>
            <a:ext cx="3529584" cy="329184"/>
          </a:xfrm>
          <a:prstGeom prst="roundRect">
            <a:avLst>
              <a:gd name="adj" fmla="val 30000"/>
            </a:avLst>
          </a:prstGeom>
          <a:solidFill>
            <a:srgbClr val="2A2B54"/>
          </a:solidFill>
          <a:ln w="12700">
            <a:solidFill>
              <a:srgbClr val="615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 spc="140">
                <a:solidFill>
                  <a:srgbClr val="A78BFA"/>
                </a:solidFill>
                <a:latin typeface="Arial"/>
              </a:rPr>
              <a:t>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419856"/>
            <a:ext cx="3529584" cy="138988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695B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3566160"/>
            <a:ext cx="31089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A78BFA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Data collection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A78BFA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Cleaning &amp; labeling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A78BFA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Versioning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A78BFA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Features &amp; representation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4256" y="3054096"/>
            <a:ext cx="3529584" cy="329184"/>
          </a:xfrm>
          <a:prstGeom prst="roundRect">
            <a:avLst>
              <a:gd name="adj" fmla="val 30000"/>
            </a:avLst>
          </a:prstGeom>
          <a:solidFill>
            <a:srgbClr val="3B352A"/>
          </a:solidFill>
          <a:ln w="12700">
            <a:solidFill>
              <a:srgbClr val="8F7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 spc="140">
                <a:solidFill>
                  <a:srgbClr val="FBBF24"/>
                </a:solidFill>
                <a:latin typeface="Arial"/>
              </a:rPr>
              <a:t>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34256" y="3419856"/>
            <a:ext cx="3529584" cy="138988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9B7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0" y="3566160"/>
            <a:ext cx="31089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FBBF24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Training runs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FBBF24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Validation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FBBF24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Evaluation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FBBF24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Tuning &amp; model registry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3054096"/>
            <a:ext cx="3529584" cy="329184"/>
          </a:xfrm>
          <a:prstGeom prst="roundRect">
            <a:avLst>
              <a:gd name="adj" fmla="val 30000"/>
            </a:avLst>
          </a:prstGeom>
          <a:solidFill>
            <a:srgbClr val="09334E"/>
          </a:solidFill>
          <a:ln w="12700">
            <a:solidFill>
              <a:srgbClr val="056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 spc="140">
                <a:solidFill>
                  <a:srgbClr val="00B4D8"/>
                </a:solidFill>
                <a:latin typeface="Arial"/>
              </a:rPr>
              <a:t>SOFTWARE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1583" y="3419856"/>
            <a:ext cx="3529584" cy="138988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0474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39327" y="3566160"/>
            <a:ext cx="31089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Backend &amp; API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Frontend &amp; UX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Database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Cloud infrastructure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331720" y="4809744"/>
            <a:ext cx="0" cy="310896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31720" y="5120640"/>
            <a:ext cx="2788920" cy="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20640" y="5120640"/>
            <a:ext cx="0" cy="146304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099048" y="4809744"/>
            <a:ext cx="0" cy="45720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866376" y="4809744"/>
            <a:ext cx="0" cy="310896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7077456" y="5120640"/>
            <a:ext cx="2788920" cy="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077456" y="5120640"/>
            <a:ext cx="0" cy="146304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66928" y="5266944"/>
            <a:ext cx="11064240" cy="384048"/>
          </a:xfrm>
          <a:prstGeom prst="roundRect">
            <a:avLst>
              <a:gd name="adj" fmla="val 14000"/>
            </a:avLst>
          </a:prstGeom>
          <a:solidFill>
            <a:srgbClr val="112E3A"/>
          </a:solidFill>
          <a:ln w="12700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 spc="160">
                <a:solidFill>
                  <a:srgbClr val="F8FAFC"/>
                </a:solidFill>
                <a:latin typeface="Arial"/>
              </a:rPr>
              <a:t>DEPLOYMENT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246120" y="5650992"/>
            <a:ext cx="0" cy="201168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66928" y="5852160"/>
            <a:ext cx="5349240" cy="384048"/>
          </a:xfrm>
          <a:prstGeom prst="roundRect">
            <a:avLst>
              <a:gd name="adj" fmla="val 14000"/>
            </a:avLst>
          </a:prstGeom>
          <a:solidFill>
            <a:srgbClr val="2D2038"/>
          </a:solidFill>
          <a:ln w="12700">
            <a:solidFill>
              <a:srgbClr val="83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 spc="160">
                <a:solidFill>
                  <a:srgbClr val="F8FAFC"/>
                </a:solidFill>
                <a:latin typeface="Arial"/>
              </a:rPr>
              <a:t>MONITORING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916168" y="6044184"/>
            <a:ext cx="365760" cy="0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281928" y="5852160"/>
            <a:ext cx="5349240" cy="384048"/>
          </a:xfrm>
          <a:prstGeom prst="roundRect">
            <a:avLst>
              <a:gd name="adj" fmla="val 14000"/>
            </a:avLst>
          </a:prstGeom>
          <a:solidFill>
            <a:srgbClr val="2D2038"/>
          </a:solidFill>
          <a:ln w="12700">
            <a:solidFill>
              <a:srgbClr val="83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 spc="160">
                <a:solidFill>
                  <a:srgbClr val="F8FAFC"/>
                </a:solidFill>
                <a:latin typeface="Arial"/>
              </a:rPr>
              <a:t>RETRAIN  /  UPDATE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1631168" y="6044184"/>
            <a:ext cx="256032" cy="0"/>
          </a:xfrm>
          <a:prstGeom prst="line">
            <a:avLst/>
          </a:prstGeom>
          <a:ln w="16510">
            <a:solidFill>
              <a:srgbClr val="FB71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1887200" y="2743200"/>
            <a:ext cx="0" cy="3300984"/>
          </a:xfrm>
          <a:prstGeom prst="line">
            <a:avLst/>
          </a:prstGeom>
          <a:ln w="16510">
            <a:solidFill>
              <a:srgbClr val="FB71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470648" y="2743200"/>
            <a:ext cx="4416552" cy="0"/>
          </a:xfrm>
          <a:prstGeom prst="line">
            <a:avLst/>
          </a:prstGeom>
          <a:ln w="16510">
            <a:solidFill>
              <a:srgbClr val="FB71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818120" y="2414016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B7185"/>
                </a:solidFill>
                <a:latin typeface="Arial"/>
              </a:rPr>
              <a:t>↺  </a:t>
            </a:r>
            <a:r>
              <a:rPr sz="950" b="0" i="0">
                <a:solidFill>
                  <a:srgbClr val="FB7185"/>
                </a:solidFill>
                <a:latin typeface="Arial"/>
              </a:rPr>
              <a:t>retrain &amp; redeploy from live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B  ·  THE AI / ML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The AI/ML Lifecycle Is a Loop, Not a 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88720" y="162763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 spc="40">
                <a:solidFill>
                  <a:srgbClr val="A78BFA"/>
                </a:solidFill>
                <a:latin typeface="Arial"/>
              </a:rPr>
              <a:t>PLAN  &amp;  PREPARE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2763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36322A"/>
          </a:solidFill>
          <a:ln w="9525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 spc="40">
                <a:solidFill>
                  <a:srgbClr val="FBBF24"/>
                </a:solidFill>
                <a:latin typeface="Arial"/>
              </a:rPr>
              <a:t>BUILD  &amp;  OPERATE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1956816"/>
            <a:ext cx="3291840" cy="530352"/>
          </a:xfrm>
          <a:prstGeom prst="roundRect">
            <a:avLst>
              <a:gd name="adj" fmla="val 14000"/>
            </a:avLst>
          </a:prstGeom>
          <a:solidFill>
            <a:srgbClr val="12253F"/>
          </a:solidFill>
          <a:ln w="12700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280160" y="2084832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183752"/>
          </a:solidFill>
          <a:ln w="9525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4CC9F0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1956816"/>
            <a:ext cx="27249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Problem Definition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34640" y="2487168"/>
            <a:ext cx="0" cy="237744"/>
          </a:xfrm>
          <a:prstGeom prst="line">
            <a:avLst/>
          </a:prstGeom>
          <a:ln w="1905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88720" y="2724912"/>
            <a:ext cx="3291840" cy="530352"/>
          </a:xfrm>
          <a:prstGeom prst="roundRect">
            <a:avLst>
              <a:gd name="adj" fmla="val 14000"/>
            </a:avLst>
          </a:prstGeom>
          <a:solidFill>
            <a:srgbClr val="1B1F40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280160" y="2852928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2A2B54"/>
          </a:solidFill>
          <a:ln w="9525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78BFA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2724912"/>
            <a:ext cx="27249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Data Collection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3255264"/>
            <a:ext cx="0" cy="237744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88720" y="3493008"/>
            <a:ext cx="3291840" cy="530352"/>
          </a:xfrm>
          <a:prstGeom prst="roundRect">
            <a:avLst>
              <a:gd name="adj" fmla="val 14000"/>
            </a:avLst>
          </a:prstGeom>
          <a:solidFill>
            <a:srgbClr val="1B1F40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280160" y="362102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2A2B54"/>
          </a:solidFill>
          <a:ln w="9525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78BFA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3493008"/>
            <a:ext cx="27249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Data Preparation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34640" y="4023360"/>
            <a:ext cx="0" cy="237744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88720" y="4261104"/>
            <a:ext cx="3291840" cy="530352"/>
          </a:xfrm>
          <a:prstGeom prst="roundRect">
            <a:avLst>
              <a:gd name="adj" fmla="val 14000"/>
            </a:avLst>
          </a:prstGeom>
          <a:solidFill>
            <a:srgbClr val="1B1F40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280160" y="438912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2A2B54"/>
          </a:solidFill>
          <a:ln w="9525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78BFA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4261104"/>
            <a:ext cx="27249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Feature Engineering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34640" y="4791456"/>
            <a:ext cx="0" cy="237744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88720" y="5029200"/>
            <a:ext cx="3291840" cy="530352"/>
          </a:xfrm>
          <a:prstGeom prst="roundRect">
            <a:avLst>
              <a:gd name="adj" fmla="val 14000"/>
            </a:avLst>
          </a:prstGeom>
          <a:solidFill>
            <a:srgbClr val="2324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280160" y="5157216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3B352A"/>
          </a:solidFill>
          <a:ln w="9525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BBF24"/>
                </a:solidFill>
                <a:latin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5029200"/>
            <a:ext cx="27249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Model Selection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1956816"/>
            <a:ext cx="3291840" cy="530352"/>
          </a:xfrm>
          <a:prstGeom prst="roundRect">
            <a:avLst>
              <a:gd name="adj" fmla="val 14000"/>
            </a:avLst>
          </a:prstGeom>
          <a:solidFill>
            <a:srgbClr val="231C34"/>
          </a:solidFill>
          <a:ln w="12700">
            <a:solidFill>
              <a:srgbClr val="7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772400" y="2084832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3B263D"/>
          </a:solidFill>
          <a:ln w="9525">
            <a:solidFill>
              <a:srgbClr val="7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B7185"/>
                </a:solidFill>
                <a:latin typeface="Arial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1956816"/>
            <a:ext cx="27249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Retraining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9326880" y="2487168"/>
            <a:ext cx="0" cy="237744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60" y="2724912"/>
            <a:ext cx="3291840" cy="530352"/>
          </a:xfrm>
          <a:prstGeom prst="roundRect">
            <a:avLst>
              <a:gd name="adj" fmla="val 14000"/>
            </a:avLst>
          </a:prstGeom>
          <a:solidFill>
            <a:srgbClr val="231C34"/>
          </a:solidFill>
          <a:ln w="12700">
            <a:solidFill>
              <a:srgbClr val="7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772400" y="2852928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3B263D"/>
          </a:solidFill>
          <a:ln w="9525">
            <a:solidFill>
              <a:srgbClr val="7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B7185"/>
                </a:solidFill>
                <a:latin typeface="Arial"/>
              </a:rP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2724912"/>
            <a:ext cx="27249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Monitoring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9326880" y="3255264"/>
            <a:ext cx="0" cy="237744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680960" y="3493008"/>
            <a:ext cx="3291840" cy="530352"/>
          </a:xfrm>
          <a:prstGeom prst="roundRect">
            <a:avLst>
              <a:gd name="adj" fmla="val 14000"/>
            </a:avLst>
          </a:prstGeom>
          <a:solidFill>
            <a:srgbClr val="0F2636"/>
          </a:solidFill>
          <a:ln w="12700">
            <a:solidFill>
              <a:srgbClr val="1D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72400" y="362102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133941"/>
          </a:solidFill>
          <a:ln w="9525">
            <a:solidFill>
              <a:srgbClr val="1D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34D399"/>
                </a:solidFill>
                <a:latin typeface="Arial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3493008"/>
            <a:ext cx="27249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Deployment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9326880" y="4023360"/>
            <a:ext cx="0" cy="237744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680960" y="4261104"/>
            <a:ext cx="3291840" cy="530352"/>
          </a:xfrm>
          <a:prstGeom prst="roundRect">
            <a:avLst>
              <a:gd name="adj" fmla="val 14000"/>
            </a:avLst>
          </a:prstGeom>
          <a:solidFill>
            <a:srgbClr val="2324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772400" y="438912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3B352A"/>
          </a:solidFill>
          <a:ln w="9525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BBF24"/>
                </a:solidFill>
                <a:latin typeface="Arial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4261104"/>
            <a:ext cx="27249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Validation &amp; Evaluation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9326880" y="4791456"/>
            <a:ext cx="0" cy="237744"/>
          </a:xfrm>
          <a:prstGeom prst="line">
            <a:avLst/>
          </a:prstGeom>
          <a:ln w="1905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680960" y="5029200"/>
            <a:ext cx="3291840" cy="530352"/>
          </a:xfrm>
          <a:prstGeom prst="roundRect">
            <a:avLst>
              <a:gd name="adj" fmla="val 14000"/>
            </a:avLst>
          </a:prstGeom>
          <a:solidFill>
            <a:srgbClr val="2324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772400" y="5157216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3B352A"/>
          </a:solidFill>
          <a:ln w="9525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BBF24"/>
                </a:solidFill>
                <a:latin typeface="Arial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8" y="5029200"/>
            <a:ext cx="27249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Training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834640" y="5559552"/>
            <a:ext cx="0" cy="256032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834640" y="5815584"/>
            <a:ext cx="6492240" cy="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326880" y="5577840"/>
            <a:ext cx="0" cy="237744"/>
          </a:xfrm>
          <a:prstGeom prst="line">
            <a:avLst/>
          </a:prstGeom>
          <a:ln w="1905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120640" y="561441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94A3B8"/>
                </a:solidFill>
                <a:latin typeface="Arial"/>
              </a:rPr>
              <a:t>then build, ship and run it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0" y="2468880"/>
            <a:ext cx="2468880" cy="219456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2F77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029200" y="2724912"/>
            <a:ext cx="45720" cy="18288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175504" y="2688336"/>
            <a:ext cx="204825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60">
                <a:solidFill>
                  <a:srgbClr val="FB7185"/>
                </a:solidFill>
                <a:latin typeface="Arial"/>
              </a:rPr>
              <a:t>WHY THE LOOP NEVER ENDS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3090672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Data drifts, requirements change and every release generates new feedback. A model that is accurate today degrades quietly — so the pipeline always returns to step 01.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0" y="427939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36243B"/>
          </a:solidFill>
          <a:ln w="9525">
            <a:solidFill>
              <a:srgbClr val="83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 spc="40">
                <a:solidFill>
                  <a:srgbClr val="FB7185"/>
                </a:solidFill>
                <a:latin typeface="Arial"/>
              </a:rPr>
              <a:t>ALWAYS  ITERATING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9326880" y="1517904"/>
            <a:ext cx="0" cy="438912"/>
          </a:xfrm>
          <a:prstGeom prst="line">
            <a:avLst/>
          </a:prstGeom>
          <a:ln w="16510">
            <a:solidFill>
              <a:srgbClr val="FB71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2834640" y="1517904"/>
            <a:ext cx="6492240" cy="0"/>
          </a:xfrm>
          <a:prstGeom prst="line">
            <a:avLst/>
          </a:prstGeom>
          <a:ln w="16510">
            <a:solidFill>
              <a:srgbClr val="FB71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834640" y="1517904"/>
            <a:ext cx="0" cy="438912"/>
          </a:xfrm>
          <a:prstGeom prst="line">
            <a:avLst/>
          </a:prstGeom>
          <a:ln w="16510">
            <a:solidFill>
              <a:srgbClr val="FB71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108960" y="1188720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B7185"/>
                </a:solidFill>
                <a:latin typeface="Arial"/>
              </a:rPr>
              <a:t>↺   </a:t>
            </a:r>
            <a:r>
              <a:rPr sz="1000" b="0" i="0">
                <a:solidFill>
                  <a:srgbClr val="FB7185"/>
                </a:solidFill>
                <a:latin typeface="Arial"/>
              </a:rPr>
              <a:t>new data and new requirements restart the loop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6053328"/>
            <a:ext cx="11183112" cy="420624"/>
          </a:xfrm>
          <a:prstGeom prst="roundRect">
            <a:avLst>
              <a:gd name="adj" fmla="val 16000"/>
            </a:avLst>
          </a:prstGeom>
          <a:solidFill>
            <a:srgbClr val="12253F"/>
          </a:solidFill>
          <a:ln w="12700">
            <a:solidFill>
              <a:srgbClr val="245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03834" y="6181344"/>
            <a:ext cx="50292" cy="164592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22376" y="6144768"/>
            <a:ext cx="10780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4CC9F0"/>
                </a:solidFill>
                <a:latin typeface="Arial"/>
              </a:rPr>
              <a:t>Iterative, not linear: 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Google describes ML development as ideation, experimentation, pipeline building and productionization — steps feed back into each other.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C  ·  AI ARCHITECTURE &amp;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Production ML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Automated, validated and versioned — a model only ships when the pipeline says it is good enough.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3291840" y="1444752"/>
            <a:ext cx="3108960" cy="347472"/>
          </a:xfrm>
          <a:prstGeom prst="parallelogram">
            <a:avLst/>
          </a:prstGeom>
          <a:solidFill>
            <a:srgbClr val="1B1F40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RAW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46320" y="1792224"/>
            <a:ext cx="0" cy="109728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91840" y="1901952"/>
            <a:ext cx="3108960" cy="347472"/>
          </a:xfrm>
          <a:prstGeom prst="roundRect">
            <a:avLst>
              <a:gd name="adj" fmla="val 16000"/>
            </a:avLst>
          </a:prstGeom>
          <a:solidFill>
            <a:srgbClr val="1B1F40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Data Ingestion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2249424"/>
            <a:ext cx="0" cy="109728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91840" y="2359152"/>
            <a:ext cx="3108960" cy="347472"/>
          </a:xfrm>
          <a:prstGeom prst="roundRect">
            <a:avLst>
              <a:gd name="adj" fmla="val 16000"/>
            </a:avLst>
          </a:prstGeom>
          <a:solidFill>
            <a:srgbClr val="1B1F40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Data Validation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46320" y="2706624"/>
            <a:ext cx="0" cy="109728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91840" y="2816352"/>
            <a:ext cx="3108960" cy="347472"/>
          </a:xfrm>
          <a:prstGeom prst="roundRect">
            <a:avLst>
              <a:gd name="adj" fmla="val 16000"/>
            </a:avLst>
          </a:prstGeom>
          <a:solidFill>
            <a:srgbClr val="1B1F40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Data Transformation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46320" y="3163824"/>
            <a:ext cx="0" cy="109728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91840" y="3273552"/>
            <a:ext cx="3108960" cy="347472"/>
          </a:xfrm>
          <a:prstGeom prst="roundRect">
            <a:avLst>
              <a:gd name="adj" fmla="val 16000"/>
            </a:avLst>
          </a:prstGeom>
          <a:solidFill>
            <a:srgbClr val="2324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Model Training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20" y="3621024"/>
            <a:ext cx="0" cy="109728"/>
          </a:xfrm>
          <a:prstGeom prst="line">
            <a:avLst/>
          </a:prstGeom>
          <a:ln w="1905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3730752"/>
            <a:ext cx="3108960" cy="347472"/>
          </a:xfrm>
          <a:prstGeom prst="roundRect">
            <a:avLst>
              <a:gd name="adj" fmla="val 16000"/>
            </a:avLst>
          </a:prstGeom>
          <a:solidFill>
            <a:srgbClr val="2324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Model Validation</a:t>
            </a:r>
          </a:p>
        </p:txBody>
      </p:sp>
      <p:sp>
        <p:nvSpPr>
          <p:cNvPr id="22" name="Diamond 21"/>
          <p:cNvSpPr/>
          <p:nvPr/>
        </p:nvSpPr>
        <p:spPr>
          <a:xfrm>
            <a:off x="4343400" y="4315968"/>
            <a:ext cx="1005840" cy="585216"/>
          </a:xfrm>
          <a:prstGeom prst="diamond">
            <a:avLst/>
          </a:prstGeom>
          <a:solidFill>
            <a:srgbClr val="2F2D2A"/>
          </a:solidFill>
          <a:ln w="1524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4315968"/>
            <a:ext cx="1005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PASS?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737360" y="4608576"/>
            <a:ext cx="2606040" cy="0"/>
          </a:xfrm>
          <a:prstGeom prst="line">
            <a:avLst/>
          </a:prstGeom>
          <a:ln w="1651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737360" y="3447288"/>
            <a:ext cx="0" cy="1161288"/>
          </a:xfrm>
          <a:prstGeom prst="line">
            <a:avLst/>
          </a:prstGeom>
          <a:ln w="1651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37360" y="3447288"/>
            <a:ext cx="1554480" cy="0"/>
          </a:xfrm>
          <a:prstGeom prst="line">
            <a:avLst/>
          </a:prstGeom>
          <a:ln w="16510">
            <a:solidFill>
              <a:srgbClr val="FB71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3504" y="3950208"/>
            <a:ext cx="104241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FB7185"/>
                </a:solidFill>
                <a:latin typeface="Arial"/>
              </a:rPr>
              <a:t>FAIL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FB7185"/>
                </a:solidFill>
                <a:latin typeface="Arial"/>
              </a:rPr>
              <a:t>retrain 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FB7185"/>
                </a:solidFill>
                <a:latin typeface="Arial"/>
              </a:rPr>
              <a:t>more data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46320" y="4901183"/>
            <a:ext cx="0" cy="182881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74336" y="4882896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Arial"/>
              </a:rPr>
              <a:t>PASS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5084064"/>
            <a:ext cx="3108960" cy="347472"/>
          </a:xfrm>
          <a:prstGeom prst="roundRect">
            <a:avLst>
              <a:gd name="adj" fmla="val 14000"/>
            </a:avLst>
          </a:prstGeom>
          <a:solidFill>
            <a:srgbClr val="0F2636"/>
          </a:solidFill>
          <a:ln w="12700">
            <a:solidFill>
              <a:srgbClr val="1D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Model Registry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46320" y="5431536"/>
            <a:ext cx="0" cy="109728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5541264"/>
            <a:ext cx="3108960" cy="347472"/>
          </a:xfrm>
          <a:prstGeom prst="roundRect">
            <a:avLst>
              <a:gd name="adj" fmla="val 14000"/>
            </a:avLst>
          </a:prstGeom>
          <a:solidFill>
            <a:srgbClr val="0F2636"/>
          </a:solidFill>
          <a:ln w="12700">
            <a:solidFill>
              <a:srgbClr val="1D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Deployment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46320" y="5888736"/>
            <a:ext cx="0" cy="109728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291840" y="5998464"/>
            <a:ext cx="3108960" cy="347472"/>
          </a:xfrm>
          <a:prstGeom prst="roundRect">
            <a:avLst>
              <a:gd name="adj" fmla="val 14000"/>
            </a:avLst>
          </a:prstGeom>
          <a:solidFill>
            <a:srgbClr val="0A233C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Prediction 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1444752"/>
            <a:ext cx="4919472" cy="2340864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95160" y="1664208"/>
            <a:ext cx="45720" cy="1828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41464" y="1627632"/>
            <a:ext cx="43342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00B4D8"/>
                </a:solidFill>
                <a:latin typeface="Arial"/>
              </a:rPr>
              <a:t>WHAT THE PIPELINE AUTOMATES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1975104"/>
            <a:ext cx="4480560" cy="170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Schema &amp; data-quality gates on every run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Reproducible, parameterised training jobs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Automatic model validation against a baseline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Versioned model registry with lineage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00B4D8"/>
                </a:solidFill>
                <a:latin typeface="Arial"/>
              </a:rPr>
              <a:t>▸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Triggered retraining when metrics drop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0" y="3950208"/>
            <a:ext cx="4919472" cy="2340864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8F4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95160" y="4187952"/>
            <a:ext cx="45720" cy="18288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41464" y="4151376"/>
            <a:ext cx="43342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FB7185"/>
                </a:solidFill>
                <a:latin typeface="Arial"/>
              </a:rPr>
              <a:t>WHY A PIPELINE, NOT A NOTEBOOK?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535424"/>
            <a:ext cx="44805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Models go stale as the real world changes. Google recommends production ML pipelines because a one-off training run cannot keep up with data drift, and manual hand-offs break auditability.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C  ·  AI ARCHITECTURE &amp;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AI 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The AI model is one component inside an ordinary software system — and it needs its own internal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99616"/>
            <a:ext cx="45720" cy="1828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1463040"/>
            <a:ext cx="497433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00B4D8"/>
                </a:solidFill>
                <a:latin typeface="Arial"/>
              </a:rPr>
              <a:t>SYSTEM CONTEXT — WHO CALLS THE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499616"/>
            <a:ext cx="45720" cy="1828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12864" y="1463040"/>
            <a:ext cx="47914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FBBF24"/>
                </a:solidFill>
                <a:latin typeface="Arial"/>
              </a:rPr>
              <a:t>AI SERVICE — WHAT HAPPENS INSIDE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1810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5304B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 spc="140">
                <a:solidFill>
                  <a:srgbClr val="F8FAFC"/>
                </a:solidFill>
                <a:latin typeface="Arial"/>
              </a:rPr>
              <a:t>USER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2176272"/>
            <a:ext cx="0" cy="109728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554480" y="2286000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Flutter / Web App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00400" y="2743200"/>
            <a:ext cx="0" cy="137160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554480" y="2880360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API Layer  ·  auth · rate limits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194560" y="3337560"/>
            <a:ext cx="548640" cy="0"/>
          </a:xfrm>
          <a:prstGeom prst="line">
            <a:avLst/>
          </a:prstGeom>
          <a:ln w="1905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94560" y="3337560"/>
            <a:ext cx="0" cy="182880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3337560"/>
            <a:ext cx="548640" cy="0"/>
          </a:xfrm>
          <a:prstGeom prst="line">
            <a:avLst/>
          </a:prstGeom>
          <a:ln w="1905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06240" y="3337560"/>
            <a:ext cx="0" cy="182880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51560" y="3520440"/>
            <a:ext cx="2286000" cy="502920"/>
          </a:xfrm>
          <a:prstGeom prst="roundRect">
            <a:avLst>
              <a:gd name="adj" fmla="val 14000"/>
            </a:avLst>
          </a:prstGeom>
          <a:solidFill>
            <a:srgbClr val="28282A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AI 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520440"/>
            <a:ext cx="2286000" cy="502920"/>
          </a:xfrm>
          <a:prstGeom prst="roundRect">
            <a:avLst>
              <a:gd name="adj" fmla="val 14000"/>
            </a:avLst>
          </a:prstGeom>
          <a:solidFill>
            <a:srgbClr val="1E2144"/>
          </a:solidFill>
          <a:ln w="12700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07822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cases · images · audit log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194560" y="4023360"/>
            <a:ext cx="0" cy="146304"/>
          </a:xfrm>
          <a:prstGeom prst="line">
            <a:avLst/>
          </a:prstGeom>
          <a:ln w="1905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51560" y="4169664"/>
            <a:ext cx="2286000" cy="402336"/>
          </a:xfrm>
          <a:prstGeom prst="roundRect">
            <a:avLst>
              <a:gd name="adj" fmla="val 14000"/>
            </a:avLst>
          </a:prstGeom>
          <a:solidFill>
            <a:srgbClr val="2324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Preprocessing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0" y="4535424"/>
            <a:ext cx="0" cy="146304"/>
          </a:xfrm>
          <a:prstGeom prst="line">
            <a:avLst/>
          </a:prstGeom>
          <a:ln w="1905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51560" y="4681728"/>
            <a:ext cx="2286000" cy="402336"/>
          </a:xfrm>
          <a:prstGeom prst="roundRect">
            <a:avLst>
              <a:gd name="adj" fmla="val 14000"/>
            </a:avLst>
          </a:prstGeom>
          <a:solidFill>
            <a:srgbClr val="2324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Model inference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194560" y="5047488"/>
            <a:ext cx="0" cy="146304"/>
          </a:xfrm>
          <a:prstGeom prst="line">
            <a:avLst/>
          </a:prstGeom>
          <a:ln w="1905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51560" y="5193792"/>
            <a:ext cx="2286000" cy="402336"/>
          </a:xfrm>
          <a:prstGeom prst="roundRect">
            <a:avLst>
              <a:gd name="adj" fmla="val 14000"/>
            </a:avLst>
          </a:prstGeom>
          <a:solidFill>
            <a:srgbClr val="2324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Prediction + confidence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194560" y="5559552"/>
            <a:ext cx="0" cy="146304"/>
          </a:xfrm>
          <a:prstGeom prst="line">
            <a:avLst/>
          </a:prstGeom>
          <a:ln w="1905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51560" y="5705856"/>
            <a:ext cx="2286000" cy="402336"/>
          </a:xfrm>
          <a:prstGeom prst="roundRect">
            <a:avLst>
              <a:gd name="adj" fmla="val 14000"/>
            </a:avLst>
          </a:prstGeom>
          <a:solidFill>
            <a:srgbClr val="171F40"/>
          </a:solidFill>
          <a:ln w="12700">
            <a:solidFill>
              <a:srgbClr val="4049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Explainability layer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566928" y="5907024"/>
            <a:ext cx="484632" cy="0"/>
          </a:xfrm>
          <a:prstGeom prst="line">
            <a:avLst/>
          </a:prstGeom>
          <a:ln w="16510">
            <a:solidFill>
              <a:srgbClr val="818C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66928" y="2514600"/>
            <a:ext cx="0" cy="3392424"/>
          </a:xfrm>
          <a:prstGeom prst="line">
            <a:avLst/>
          </a:prstGeom>
          <a:ln w="16510">
            <a:solidFill>
              <a:srgbClr val="818C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66928" y="2514600"/>
            <a:ext cx="987552" cy="0"/>
          </a:xfrm>
          <a:prstGeom prst="line">
            <a:avLst/>
          </a:prstGeom>
          <a:ln w="16510">
            <a:solidFill>
              <a:srgbClr val="818CF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 rot="16200000">
            <a:off x="64008" y="3995928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E68BA"/>
                </a:solidFill>
                <a:latin typeface="Arial"/>
              </a:rPr>
              <a:t>result returned to the app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0" y="1783080"/>
            <a:ext cx="4572000" cy="384048"/>
          </a:xfrm>
          <a:prstGeom prst="roundRect">
            <a:avLst>
              <a:gd name="adj" fmla="val 14000"/>
            </a:avLst>
          </a:prstGeom>
          <a:solidFill>
            <a:srgbClr val="1B1F40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858000" y="1847088"/>
            <a:ext cx="256031" cy="256031"/>
          </a:xfrm>
          <a:prstGeom prst="roundRect">
            <a:avLst>
              <a:gd name="adj" fmla="val 30000"/>
            </a:avLst>
          </a:prstGeom>
          <a:solidFill>
            <a:srgbClr val="2A2B54"/>
          </a:solidFill>
          <a:ln w="9525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78BFA"/>
                </a:solidFill>
                <a:latin typeface="Arial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178308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Image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52560" y="2167128"/>
            <a:ext cx="0" cy="118872"/>
          </a:xfrm>
          <a:prstGeom prst="line">
            <a:avLst/>
          </a:prstGeom>
          <a:ln w="1651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766560" y="2286000"/>
            <a:ext cx="4572000" cy="384048"/>
          </a:xfrm>
          <a:prstGeom prst="roundRect">
            <a:avLst>
              <a:gd name="adj" fmla="val 14000"/>
            </a:avLst>
          </a:prstGeom>
          <a:solidFill>
            <a:srgbClr val="1B1F40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858000" y="2350008"/>
            <a:ext cx="256031" cy="256031"/>
          </a:xfrm>
          <a:prstGeom prst="roundRect">
            <a:avLst>
              <a:gd name="adj" fmla="val 30000"/>
            </a:avLst>
          </a:prstGeom>
          <a:solidFill>
            <a:srgbClr val="2A2B54"/>
          </a:solidFill>
          <a:ln w="9525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78BFA"/>
                </a:solidFill>
                <a:latin typeface="Arial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228600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Quality check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52560" y="2670048"/>
            <a:ext cx="0" cy="118872"/>
          </a:xfrm>
          <a:prstGeom prst="line">
            <a:avLst/>
          </a:prstGeom>
          <a:ln w="1651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766560" y="2788920"/>
            <a:ext cx="4572000" cy="384048"/>
          </a:xfrm>
          <a:prstGeom prst="roundRect">
            <a:avLst>
              <a:gd name="adj" fmla="val 14000"/>
            </a:avLst>
          </a:prstGeom>
          <a:solidFill>
            <a:srgbClr val="1B1F40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858000" y="2852927"/>
            <a:ext cx="256031" cy="256031"/>
          </a:xfrm>
          <a:prstGeom prst="roundRect">
            <a:avLst>
              <a:gd name="adj" fmla="val 30000"/>
            </a:avLst>
          </a:prstGeom>
          <a:solidFill>
            <a:srgbClr val="2A2B54"/>
          </a:solidFill>
          <a:ln w="9525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78BFA"/>
                </a:solidFill>
                <a:latin typeface="Arial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278892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Preprocessing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052560" y="3172968"/>
            <a:ext cx="0" cy="118871"/>
          </a:xfrm>
          <a:prstGeom prst="line">
            <a:avLst/>
          </a:prstGeom>
          <a:ln w="1651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766560" y="3291839"/>
            <a:ext cx="4572000" cy="384048"/>
          </a:xfrm>
          <a:prstGeom prst="roundRect">
            <a:avLst>
              <a:gd name="adj" fmla="val 14000"/>
            </a:avLst>
          </a:prstGeom>
          <a:solidFill>
            <a:srgbClr val="1B1F40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858000" y="3355847"/>
            <a:ext cx="256031" cy="256031"/>
          </a:xfrm>
          <a:prstGeom prst="roundRect">
            <a:avLst>
              <a:gd name="adj" fmla="val 30000"/>
            </a:avLst>
          </a:prstGeom>
          <a:solidFill>
            <a:srgbClr val="2A2B54"/>
          </a:solidFill>
          <a:ln w="9525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78BFA"/>
                </a:solidFill>
                <a:latin typeface="Arial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3291839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Feature extraction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052560" y="3675887"/>
            <a:ext cx="0" cy="118872"/>
          </a:xfrm>
          <a:prstGeom prst="line">
            <a:avLst/>
          </a:prstGeom>
          <a:ln w="1651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766560" y="3794759"/>
            <a:ext cx="4572000" cy="384048"/>
          </a:xfrm>
          <a:prstGeom prst="roundRect">
            <a:avLst>
              <a:gd name="adj" fmla="val 14000"/>
            </a:avLst>
          </a:prstGeom>
          <a:solidFill>
            <a:srgbClr val="2324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858000" y="3858768"/>
            <a:ext cx="256031" cy="256031"/>
          </a:xfrm>
          <a:prstGeom prst="roundRect">
            <a:avLst>
              <a:gd name="adj" fmla="val 30000"/>
            </a:avLst>
          </a:prstGeom>
          <a:solidFill>
            <a:srgbClr val="3B352A"/>
          </a:solidFill>
          <a:ln w="9525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BBF24"/>
                </a:solidFill>
                <a:latin typeface="Arial"/>
              </a:rP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3794759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Neural network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052560" y="4178807"/>
            <a:ext cx="0" cy="118872"/>
          </a:xfrm>
          <a:prstGeom prst="line">
            <a:avLst/>
          </a:prstGeom>
          <a:ln w="1651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6766560" y="4297679"/>
            <a:ext cx="4572000" cy="384048"/>
          </a:xfrm>
          <a:prstGeom prst="roundRect">
            <a:avLst>
              <a:gd name="adj" fmla="val 14000"/>
            </a:avLst>
          </a:prstGeom>
          <a:solidFill>
            <a:srgbClr val="2324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858000" y="4361688"/>
            <a:ext cx="256031" cy="256031"/>
          </a:xfrm>
          <a:prstGeom prst="roundRect">
            <a:avLst>
              <a:gd name="adj" fmla="val 30000"/>
            </a:avLst>
          </a:prstGeom>
          <a:solidFill>
            <a:srgbClr val="3B352A"/>
          </a:solidFill>
          <a:ln w="9525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BBF24"/>
                </a:solidFill>
                <a:latin typeface="Arial"/>
              </a:rPr>
              <a:t>06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0" y="4297679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Prediction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052560" y="4681727"/>
            <a:ext cx="0" cy="118872"/>
          </a:xfrm>
          <a:prstGeom prst="line">
            <a:avLst/>
          </a:prstGeom>
          <a:ln w="1651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6766560" y="4800599"/>
            <a:ext cx="4572000" cy="384048"/>
          </a:xfrm>
          <a:prstGeom prst="roundRect">
            <a:avLst>
              <a:gd name="adj" fmla="val 14000"/>
            </a:avLst>
          </a:prstGeom>
          <a:solidFill>
            <a:srgbClr val="2324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6858000" y="4864607"/>
            <a:ext cx="256031" cy="256031"/>
          </a:xfrm>
          <a:prstGeom prst="roundRect">
            <a:avLst>
              <a:gd name="adj" fmla="val 30000"/>
            </a:avLst>
          </a:prstGeom>
          <a:solidFill>
            <a:srgbClr val="3B352A"/>
          </a:solidFill>
          <a:ln w="9525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BBF24"/>
                </a:solidFill>
                <a:latin typeface="Arial"/>
              </a:rPr>
              <a:t>07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4800599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Confidence score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052560" y="5184647"/>
            <a:ext cx="0" cy="118872"/>
          </a:xfrm>
          <a:prstGeom prst="line">
            <a:avLst/>
          </a:prstGeom>
          <a:ln w="1651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766560" y="5303519"/>
            <a:ext cx="4572000" cy="384048"/>
          </a:xfrm>
          <a:prstGeom prst="roundRect">
            <a:avLst>
              <a:gd name="adj" fmla="val 14000"/>
            </a:avLst>
          </a:prstGeom>
          <a:solidFill>
            <a:srgbClr val="171F40"/>
          </a:solidFill>
          <a:ln w="12700">
            <a:solidFill>
              <a:srgbClr val="4049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6858000" y="5367527"/>
            <a:ext cx="256031" cy="256031"/>
          </a:xfrm>
          <a:prstGeom prst="roundRect">
            <a:avLst>
              <a:gd name="adj" fmla="val 30000"/>
            </a:avLst>
          </a:prstGeom>
          <a:solidFill>
            <a:srgbClr val="232B54"/>
          </a:solidFill>
          <a:ln w="9525">
            <a:solidFill>
              <a:srgbClr val="4049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818CF8"/>
                </a:solidFill>
                <a:latin typeface="Arial"/>
              </a:rPr>
              <a:t>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0" y="5303519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Explainability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052560" y="5687567"/>
            <a:ext cx="0" cy="118872"/>
          </a:xfrm>
          <a:prstGeom prst="line">
            <a:avLst/>
          </a:prstGeom>
          <a:ln w="1651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6766560" y="5806439"/>
            <a:ext cx="4572000" cy="384048"/>
          </a:xfrm>
          <a:prstGeom prst="roundRect">
            <a:avLst>
              <a:gd name="adj" fmla="val 14000"/>
            </a:avLst>
          </a:prstGeom>
          <a:solidFill>
            <a:srgbClr val="0F2636"/>
          </a:solidFill>
          <a:ln w="12700">
            <a:solidFill>
              <a:srgbClr val="1D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6858000" y="5870447"/>
            <a:ext cx="256031" cy="256031"/>
          </a:xfrm>
          <a:prstGeom prst="roundRect">
            <a:avLst>
              <a:gd name="adj" fmla="val 30000"/>
            </a:avLst>
          </a:prstGeom>
          <a:solidFill>
            <a:srgbClr val="133941"/>
          </a:solidFill>
          <a:ln w="9525">
            <a:solidFill>
              <a:srgbClr val="1D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34D399"/>
                </a:solidFill>
                <a:latin typeface="Arial"/>
              </a:rPr>
              <a:t>09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23760" y="5806439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Final result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C  ·  AI ARCHITECTURE &amp;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The Model: Representation, Computation,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A neural network is just another component — but it is judged by statistics, not by a specification.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63040"/>
            <a:ext cx="5577840" cy="48463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700784"/>
            <a:ext cx="45720" cy="1828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1664208"/>
            <a:ext cx="497433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FBBF24"/>
                </a:solidFill>
                <a:latin typeface="Arial"/>
              </a:rPr>
              <a:t>A MODEL, DRAWN SIMPLY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27632" y="2587752"/>
            <a:ext cx="1737360" cy="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627632" y="2587752"/>
            <a:ext cx="1737360" cy="6858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27632" y="2587752"/>
            <a:ext cx="1737360" cy="13716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627632" y="2587752"/>
            <a:ext cx="1737360" cy="20574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627632" y="2587752"/>
            <a:ext cx="1737360" cy="6858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27632" y="3273552"/>
            <a:ext cx="1737360" cy="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27632" y="3273552"/>
            <a:ext cx="1737360" cy="6858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27632" y="3273552"/>
            <a:ext cx="1737360" cy="13716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27632" y="2587752"/>
            <a:ext cx="1737360" cy="13716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27632" y="3273552"/>
            <a:ext cx="1737360" cy="6858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27632" y="3959352"/>
            <a:ext cx="1737360" cy="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627632" y="3959352"/>
            <a:ext cx="1737360" cy="6858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627632" y="2587752"/>
            <a:ext cx="1737360" cy="20574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627632" y="3273552"/>
            <a:ext cx="1737360" cy="13716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627632" y="3959352"/>
            <a:ext cx="1737360" cy="6858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627632" y="4645152"/>
            <a:ext cx="1737360" cy="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64992" y="2587752"/>
            <a:ext cx="1737360" cy="6858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364992" y="2587752"/>
            <a:ext cx="1737360" cy="13716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364992" y="3273552"/>
            <a:ext cx="1737360" cy="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64992" y="3273552"/>
            <a:ext cx="1737360" cy="6858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364992" y="3273552"/>
            <a:ext cx="1737360" cy="6858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64992" y="3959352"/>
            <a:ext cx="1737360" cy="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364992" y="3273552"/>
            <a:ext cx="1737360" cy="13716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364992" y="3959352"/>
            <a:ext cx="1737360" cy="685800"/>
          </a:xfrm>
          <a:prstGeom prst="line">
            <a:avLst/>
          </a:prstGeom>
          <a:ln w="9525">
            <a:solidFill>
              <a:srgbClr val="403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417320" y="2377440"/>
            <a:ext cx="420624" cy="420624"/>
          </a:xfrm>
          <a:prstGeom prst="ellipse">
            <a:avLst/>
          </a:prstGeom>
          <a:solidFill>
            <a:srgbClr val="142C47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x1</a:t>
            </a:r>
          </a:p>
        </p:txBody>
      </p:sp>
      <p:sp>
        <p:nvSpPr>
          <p:cNvPr id="39" name="Oval 38"/>
          <p:cNvSpPr/>
          <p:nvPr/>
        </p:nvSpPr>
        <p:spPr>
          <a:xfrm>
            <a:off x="1417320" y="3063240"/>
            <a:ext cx="420624" cy="420624"/>
          </a:xfrm>
          <a:prstGeom prst="ellipse">
            <a:avLst/>
          </a:prstGeom>
          <a:solidFill>
            <a:srgbClr val="142C47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x2</a:t>
            </a:r>
          </a:p>
        </p:txBody>
      </p:sp>
      <p:sp>
        <p:nvSpPr>
          <p:cNvPr id="40" name="Oval 39"/>
          <p:cNvSpPr/>
          <p:nvPr/>
        </p:nvSpPr>
        <p:spPr>
          <a:xfrm>
            <a:off x="1417320" y="3749039"/>
            <a:ext cx="420624" cy="420624"/>
          </a:xfrm>
          <a:prstGeom prst="ellipse">
            <a:avLst/>
          </a:prstGeom>
          <a:solidFill>
            <a:srgbClr val="142C47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x3</a:t>
            </a:r>
          </a:p>
        </p:txBody>
      </p:sp>
      <p:sp>
        <p:nvSpPr>
          <p:cNvPr id="41" name="Oval 40"/>
          <p:cNvSpPr/>
          <p:nvPr/>
        </p:nvSpPr>
        <p:spPr>
          <a:xfrm>
            <a:off x="1417320" y="4434840"/>
            <a:ext cx="420624" cy="420624"/>
          </a:xfrm>
          <a:prstGeom prst="ellipse">
            <a:avLst/>
          </a:prstGeom>
          <a:solidFill>
            <a:srgbClr val="142C47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x4</a:t>
            </a:r>
          </a:p>
        </p:txBody>
      </p:sp>
      <p:sp>
        <p:nvSpPr>
          <p:cNvPr id="42" name="Oval 41"/>
          <p:cNvSpPr/>
          <p:nvPr/>
        </p:nvSpPr>
        <p:spPr>
          <a:xfrm>
            <a:off x="3154680" y="2377440"/>
            <a:ext cx="420624" cy="420624"/>
          </a:xfrm>
          <a:prstGeom prst="ellipse">
            <a:avLst/>
          </a:prstGeom>
          <a:solidFill>
            <a:srgbClr val="312F2A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endParaRPr/>
          </a:p>
        </p:txBody>
      </p:sp>
      <p:sp>
        <p:nvSpPr>
          <p:cNvPr id="43" name="Oval 42"/>
          <p:cNvSpPr/>
          <p:nvPr/>
        </p:nvSpPr>
        <p:spPr>
          <a:xfrm>
            <a:off x="3154680" y="3063240"/>
            <a:ext cx="420624" cy="420624"/>
          </a:xfrm>
          <a:prstGeom prst="ellipse">
            <a:avLst/>
          </a:prstGeom>
          <a:solidFill>
            <a:srgbClr val="312F2A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endParaRPr/>
          </a:p>
        </p:txBody>
      </p:sp>
      <p:sp>
        <p:nvSpPr>
          <p:cNvPr id="44" name="Oval 43"/>
          <p:cNvSpPr/>
          <p:nvPr/>
        </p:nvSpPr>
        <p:spPr>
          <a:xfrm>
            <a:off x="3154680" y="3749039"/>
            <a:ext cx="420624" cy="420624"/>
          </a:xfrm>
          <a:prstGeom prst="ellipse">
            <a:avLst/>
          </a:prstGeom>
          <a:solidFill>
            <a:srgbClr val="312F2A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endParaRPr/>
          </a:p>
        </p:txBody>
      </p:sp>
      <p:sp>
        <p:nvSpPr>
          <p:cNvPr id="45" name="Oval 44"/>
          <p:cNvSpPr/>
          <p:nvPr/>
        </p:nvSpPr>
        <p:spPr>
          <a:xfrm>
            <a:off x="3154680" y="4434840"/>
            <a:ext cx="420624" cy="420624"/>
          </a:xfrm>
          <a:prstGeom prst="ellipse">
            <a:avLst/>
          </a:prstGeom>
          <a:solidFill>
            <a:srgbClr val="312F2A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endParaRPr/>
          </a:p>
        </p:txBody>
      </p:sp>
      <p:sp>
        <p:nvSpPr>
          <p:cNvPr id="46" name="Oval 45"/>
          <p:cNvSpPr/>
          <p:nvPr/>
        </p:nvSpPr>
        <p:spPr>
          <a:xfrm>
            <a:off x="4892040" y="3063240"/>
            <a:ext cx="420624" cy="420624"/>
          </a:xfrm>
          <a:prstGeom prst="ellipse">
            <a:avLst/>
          </a:prstGeom>
          <a:solidFill>
            <a:srgbClr val="12323D"/>
          </a:solidFill>
          <a:ln w="12700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22392" y="3063240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A  0.82</a:t>
            </a:r>
          </a:p>
        </p:txBody>
      </p:sp>
      <p:sp>
        <p:nvSpPr>
          <p:cNvPr id="48" name="Oval 47"/>
          <p:cNvSpPr/>
          <p:nvPr/>
        </p:nvSpPr>
        <p:spPr>
          <a:xfrm>
            <a:off x="4892040" y="3749039"/>
            <a:ext cx="420624" cy="420624"/>
          </a:xfrm>
          <a:prstGeom prst="ellipse">
            <a:avLst/>
          </a:prstGeom>
          <a:solidFill>
            <a:srgbClr val="12323D"/>
          </a:solidFill>
          <a:ln w="12700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22392" y="3749039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B  0.18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1956816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 spc="120">
                <a:solidFill>
                  <a:srgbClr val="4CC9F0"/>
                </a:solidFill>
                <a:latin typeface="Arial"/>
              </a:rPr>
              <a:t>INPUT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0320" y="195681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 spc="120">
                <a:solidFill>
                  <a:srgbClr val="FBBF24"/>
                </a:solidFill>
                <a:latin typeface="Arial"/>
              </a:rPr>
              <a:t>HIDDEN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195681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 spc="120">
                <a:solidFill>
                  <a:srgbClr val="34D399"/>
                </a:solidFill>
                <a:latin typeface="Arial"/>
              </a:rPr>
              <a:t>OUTPUT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5074920"/>
            <a:ext cx="1124712" cy="38404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Input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947672" y="5266944"/>
            <a:ext cx="146304" cy="0"/>
          </a:xfrm>
          <a:prstGeom prst="line">
            <a:avLst/>
          </a:prstGeom>
          <a:ln w="15240">
            <a:solidFill>
              <a:srgbClr val="3892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2093976" y="5074920"/>
            <a:ext cx="1124712" cy="38404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Representation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218688" y="5266944"/>
            <a:ext cx="146304" cy="0"/>
          </a:xfrm>
          <a:prstGeom prst="line">
            <a:avLst/>
          </a:prstGeom>
          <a:ln w="15240">
            <a:solidFill>
              <a:srgbClr val="3892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364991" y="5074920"/>
            <a:ext cx="1124712" cy="38404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Computation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489704" y="5266944"/>
            <a:ext cx="146304" cy="0"/>
          </a:xfrm>
          <a:prstGeom prst="line">
            <a:avLst/>
          </a:prstGeom>
          <a:ln w="15240">
            <a:solidFill>
              <a:srgbClr val="3892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636007" y="5074920"/>
            <a:ext cx="1124712" cy="38404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Output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5614416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Weights are learned from examples; the architecture (layers, size, connections) is a design decision an engineer makes.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55080" y="1572768"/>
            <a:ext cx="45720" cy="1828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01384" y="1536192"/>
            <a:ext cx="515721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00B4D8"/>
                </a:solidFill>
                <a:latin typeface="Arial"/>
              </a:rPr>
              <a:t>HOW AN AI MODEL IS JUDGED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55080" y="1901952"/>
            <a:ext cx="1673352" cy="93268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056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355080" y="1901952"/>
            <a:ext cx="45720" cy="9326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19672" y="2029968"/>
            <a:ext cx="1399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Accuracy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19672" y="2304288"/>
            <a:ext cx="1380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CBD5E1"/>
                </a:solidFill>
                <a:latin typeface="Arial"/>
              </a:rPr>
              <a:t>share of all predictions that are right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56448" y="1901952"/>
            <a:ext cx="1673352" cy="93268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615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156448" y="1901952"/>
            <a:ext cx="45720" cy="93268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21040" y="2029968"/>
            <a:ext cx="1399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Precision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2304288"/>
            <a:ext cx="1380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CBD5E1"/>
                </a:solidFill>
                <a:latin typeface="Arial"/>
              </a:rPr>
              <a:t>of those flagged positive, how many are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57816" y="1901952"/>
            <a:ext cx="1673352" cy="93268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8F7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957816" y="1901952"/>
            <a:ext cx="45720" cy="93268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22408" y="2029968"/>
            <a:ext cx="1399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Recall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22408" y="2304288"/>
            <a:ext cx="1380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CBD5E1"/>
                </a:solidFill>
                <a:latin typeface="Arial"/>
              </a:rPr>
              <a:t>of the real positives, how many did we find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55080" y="2962656"/>
            <a:ext cx="1673352" cy="93268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27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355080" y="2962656"/>
            <a:ext cx="45720" cy="93268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19672" y="3090672"/>
            <a:ext cx="1399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F1 score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19672" y="3364992"/>
            <a:ext cx="1380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CBD5E1"/>
                </a:solidFill>
                <a:latin typeface="Arial"/>
              </a:rPr>
              <a:t>harmonic mean of precision and recall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156448" y="2962656"/>
            <a:ext cx="1673352" cy="93268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4C5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156448" y="2962656"/>
            <a:ext cx="45720" cy="932688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21040" y="3090672"/>
            <a:ext cx="1399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ROC-AUC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3364992"/>
            <a:ext cx="1380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CBD5E1"/>
                </a:solidFill>
                <a:latin typeface="Arial"/>
              </a:rPr>
              <a:t>ranking quality across all thresholds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957816" y="2962656"/>
            <a:ext cx="1673352" cy="93268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8F4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957816" y="2962656"/>
            <a:ext cx="45720" cy="93268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122408" y="3090672"/>
            <a:ext cx="1399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Calibration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22408" y="3364992"/>
            <a:ext cx="1380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CBD5E1"/>
                </a:solidFill>
                <a:latin typeface="Arial"/>
              </a:rPr>
              <a:t>does a 0.8 confidence happen 80% of the time?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55080" y="4169663"/>
            <a:ext cx="45720" cy="18288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501384" y="4133087"/>
            <a:ext cx="515721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818CF8"/>
                </a:solidFill>
                <a:latin typeface="Arial"/>
              </a:rPr>
              <a:t>AND BEYOND RAW ACCURACY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355080" y="4480560"/>
            <a:ext cx="1673352" cy="36576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5E68BA"/>
                </a:solidFill>
                <a:latin typeface="Arial"/>
              </a:rPr>
              <a:t>Robustness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156448" y="4480560"/>
            <a:ext cx="1673352" cy="36576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5E68BA"/>
                </a:solidFill>
                <a:latin typeface="Arial"/>
              </a:rPr>
              <a:t>Fairness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957816" y="4480560"/>
            <a:ext cx="1673352" cy="36576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5E68BA"/>
                </a:solidFill>
                <a:latin typeface="Arial"/>
              </a:rPr>
              <a:t>Explainability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355080" y="4937760"/>
            <a:ext cx="1673352" cy="36576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5E68BA"/>
                </a:solidFill>
                <a:latin typeface="Arial"/>
              </a:rPr>
              <a:t>Latency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156448" y="4937760"/>
            <a:ext cx="1673352" cy="36576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5E68BA"/>
                </a:solidFill>
                <a:latin typeface="Arial"/>
              </a:rPr>
              <a:t>Cost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957816" y="4937760"/>
            <a:ext cx="1673352" cy="36576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5E68BA"/>
                </a:solidFill>
                <a:latin typeface="Arial"/>
              </a:rPr>
              <a:t>Drift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55080" y="5504688"/>
            <a:ext cx="5303520" cy="804672"/>
          </a:xfrm>
          <a:prstGeom prst="roundRect">
            <a:avLst>
              <a:gd name="adj" fmla="val 16000"/>
            </a:avLst>
          </a:prstGeom>
          <a:solidFill>
            <a:srgbClr val="231C34"/>
          </a:solidFill>
          <a:ln w="12700">
            <a:solidFill>
              <a:srgbClr val="66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355994" y="5632703"/>
            <a:ext cx="50292" cy="54864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574536" y="5596127"/>
            <a:ext cx="4901183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rial"/>
              </a:rPr>
              <a:t>Software is tested against a spec. 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A model is measured on data it has never seen — and the data keeps changing, so measurement never stops.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D  ·  MLOPS &amp;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MLOps — Where Code, Data and Model Meet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Three change streams, one automated release path, and a runtime that talks 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74519"/>
            <a:ext cx="960120" cy="457200"/>
          </a:xfrm>
          <a:prstGeom prst="roundRect">
            <a:avLst>
              <a:gd name="adj" fmla="val 14000"/>
            </a:avLst>
          </a:prstGeom>
          <a:solidFill>
            <a:srgbClr val="142C47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 spc="60">
                <a:solidFill>
                  <a:srgbClr val="F8FAFC"/>
                </a:solidFill>
                <a:latin typeface="Arial"/>
              </a:rPr>
              <a:t>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1874519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11233D"/>
          </a:solidFill>
          <a:ln w="12700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Git repository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0600" y="2103120"/>
            <a:ext cx="228600" cy="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0" y="1874519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11233D"/>
          </a:solidFill>
          <a:ln w="12700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CI: lint &amp; unit tests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80960" y="2103120"/>
            <a:ext cx="228600" cy="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1874519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11233D"/>
          </a:solidFill>
          <a:ln w="12700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Build &amp; package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61320" y="2103120"/>
            <a:ext cx="411480" cy="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2697480"/>
            <a:ext cx="960120" cy="457200"/>
          </a:xfrm>
          <a:prstGeom prst="roundRect">
            <a:avLst>
              <a:gd name="adj" fmla="val 14000"/>
            </a:avLst>
          </a:prstGeom>
          <a:solidFill>
            <a:srgbClr val="212448"/>
          </a:solidFill>
          <a:ln w="12700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 spc="60">
                <a:solidFill>
                  <a:srgbClr val="F8FAFC"/>
                </a:solidFill>
                <a:latin typeface="Arial"/>
              </a:rPr>
              <a:t>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2697480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191E3E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Data sources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00600" y="2926080"/>
            <a:ext cx="228600" cy="0"/>
          </a:xfrm>
          <a:prstGeom prst="line">
            <a:avLst/>
          </a:prstGeom>
          <a:ln w="17780">
            <a:solidFill>
              <a:srgbClr val="A78BF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9200" y="2697480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191E3E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Validate &amp; version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80960" y="2926080"/>
            <a:ext cx="228600" cy="0"/>
          </a:xfrm>
          <a:prstGeom prst="line">
            <a:avLst/>
          </a:prstGeom>
          <a:ln w="17780">
            <a:solidFill>
              <a:srgbClr val="A78BF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909560" y="2697480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191E3E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Feature store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561320" y="2926080"/>
            <a:ext cx="411480" cy="0"/>
          </a:xfrm>
          <a:prstGeom prst="line">
            <a:avLst/>
          </a:prstGeom>
          <a:ln w="17780">
            <a:solidFill>
              <a:srgbClr val="A78BF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" y="3520440"/>
            <a:ext cx="960120" cy="457200"/>
          </a:xfrm>
          <a:prstGeom prst="roundRect">
            <a:avLst>
              <a:gd name="adj" fmla="val 14000"/>
            </a:avLst>
          </a:prstGeom>
          <a:solidFill>
            <a:srgbClr val="2D2B2A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 spc="60">
                <a:solidFill>
                  <a:srgbClr val="F8FAFC"/>
                </a:solidFill>
                <a:latin typeface="Arial"/>
              </a:rPr>
              <a:t>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48840" y="3520440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2122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Training jobs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800600" y="3749039"/>
            <a:ext cx="228600" cy="0"/>
          </a:xfrm>
          <a:prstGeom prst="line">
            <a:avLst/>
          </a:prstGeom>
          <a:ln w="17780">
            <a:solidFill>
              <a:srgbClr val="FBBF2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029200" y="3520440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2122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Evaluate vs baseline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80960" y="3749039"/>
            <a:ext cx="228600" cy="0"/>
          </a:xfrm>
          <a:prstGeom prst="line">
            <a:avLst/>
          </a:prstGeom>
          <a:ln w="17780">
            <a:solidFill>
              <a:srgbClr val="FBBF2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909560" y="3520440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2122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Model registry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561320" y="3749039"/>
            <a:ext cx="411480" cy="0"/>
          </a:xfrm>
          <a:prstGeom prst="line">
            <a:avLst/>
          </a:prstGeom>
          <a:ln w="17780">
            <a:solidFill>
              <a:srgbClr val="FBBF2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972800" y="2103120"/>
            <a:ext cx="0" cy="1645919"/>
          </a:xfrm>
          <a:prstGeom prst="line">
            <a:avLst/>
          </a:prstGeom>
          <a:ln w="1651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972800" y="3749039"/>
            <a:ext cx="0" cy="411481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148840" y="4160520"/>
            <a:ext cx="9537192" cy="457200"/>
          </a:xfrm>
          <a:prstGeom prst="roundRect">
            <a:avLst>
              <a:gd name="adj" fmla="val 14000"/>
            </a:avLst>
          </a:prstGeom>
          <a:solidFill>
            <a:srgbClr val="102A38"/>
          </a:solidFill>
          <a:ln w="12700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 spc="30">
                <a:solidFill>
                  <a:srgbClr val="F8FAFC"/>
                </a:solidFill>
                <a:latin typeface="Arial"/>
              </a:rPr>
              <a:t>AUTOMATED RELEASE   ·   staging  →  canary  →  production   ·   rollback on any failed check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75887" y="4617720"/>
            <a:ext cx="0" cy="22860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148840" y="4846320"/>
            <a:ext cx="3063240" cy="457200"/>
          </a:xfrm>
          <a:prstGeom prst="roundRect">
            <a:avLst>
              <a:gd name="adj" fmla="val 14000"/>
            </a:avLst>
          </a:prstGeom>
          <a:solidFill>
            <a:srgbClr val="0A233C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Model serving  ·  API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12080" y="5074920"/>
            <a:ext cx="182880" cy="0"/>
          </a:xfrm>
          <a:prstGeom prst="line">
            <a:avLst/>
          </a:prstGeom>
          <a:ln w="17780">
            <a:solidFill>
              <a:srgbClr val="00B4D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394960" y="4846320"/>
            <a:ext cx="3063240" cy="457200"/>
          </a:xfrm>
          <a:prstGeom prst="roundRect">
            <a:avLst>
              <a:gd name="adj" fmla="val 14000"/>
            </a:avLst>
          </a:prstGeom>
          <a:solidFill>
            <a:srgbClr val="231C34"/>
          </a:solidFill>
          <a:ln w="12700">
            <a:solidFill>
              <a:srgbClr val="7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Monitoring  ·  drift &amp; latency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58200" y="5074920"/>
            <a:ext cx="182880" cy="0"/>
          </a:xfrm>
          <a:prstGeom prst="line">
            <a:avLst/>
          </a:prstGeom>
          <a:ln w="17780">
            <a:solidFill>
              <a:srgbClr val="FB71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641080" y="4846320"/>
            <a:ext cx="3044952" cy="457200"/>
          </a:xfrm>
          <a:prstGeom prst="roundRect">
            <a:avLst>
              <a:gd name="adj" fmla="val 14000"/>
            </a:avLst>
          </a:prstGeom>
          <a:solidFill>
            <a:srgbClr val="231C34"/>
          </a:solidFill>
          <a:ln w="12700">
            <a:solidFill>
              <a:srgbClr val="7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Alerts &amp; retrain trigger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158984" y="5303520"/>
            <a:ext cx="0" cy="237744"/>
          </a:xfrm>
          <a:prstGeom prst="line">
            <a:avLst/>
          </a:prstGeom>
          <a:ln w="16510">
            <a:solidFill>
              <a:srgbClr val="FB71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783080" y="5541264"/>
            <a:ext cx="8375904" cy="0"/>
          </a:xfrm>
          <a:prstGeom prst="line">
            <a:avLst/>
          </a:prstGeom>
          <a:ln w="16510">
            <a:solidFill>
              <a:srgbClr val="FB71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783080" y="3749039"/>
            <a:ext cx="0" cy="1792225"/>
          </a:xfrm>
          <a:prstGeom prst="line">
            <a:avLst/>
          </a:prstGeom>
          <a:ln w="16510">
            <a:solidFill>
              <a:srgbClr val="FB71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783080" y="3749039"/>
            <a:ext cx="365760" cy="0"/>
          </a:xfrm>
          <a:prstGeom prst="line">
            <a:avLst/>
          </a:prstGeom>
          <a:ln w="16510">
            <a:solidFill>
              <a:srgbClr val="FB71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931920" y="5596128"/>
            <a:ext cx="5852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FB7185"/>
                </a:solidFill>
                <a:latin typeface="Arial"/>
              </a:rPr>
              <a:t>drift, a schedule or new data triggers the next training run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0F2636"/>
          </a:solidFill>
          <a:ln w="12700">
            <a:solidFill>
              <a:srgbClr val="1B5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03834" y="6071616"/>
            <a:ext cx="50292" cy="201167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2376" y="6035040"/>
            <a:ext cx="107807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rial"/>
              </a:rPr>
              <a:t>MLOps is DevOps with two extra pipelines: 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data and model become versioned artifacts too — so every release is reproducible and every rollback is safe.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D  ·  MLOPS &amp;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The Feedback Loop: Monitoring, Drift &amp; Retraining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A deployed model is never finished — production data keeps moving, so measurement has to keep running.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3931920" cy="3977639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" y="1993392"/>
            <a:ext cx="45720" cy="18288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1956816"/>
            <a:ext cx="34198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FB7185"/>
                </a:solidFill>
                <a:latin typeface="Arial"/>
              </a:rPr>
              <a:t>WHY MODELS ROT IN PRODUCTION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59152"/>
            <a:ext cx="3566160" cy="932688"/>
          </a:xfrm>
          <a:prstGeom prst="roundRect">
            <a:avLst>
              <a:gd name="adj" fmla="val 6000"/>
            </a:avLst>
          </a:prstGeom>
          <a:solidFill>
            <a:srgbClr val="161B39"/>
          </a:solidFill>
          <a:ln w="12700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359152"/>
            <a:ext cx="45720" cy="93268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48716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Data drift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7977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Inputs change shape — new devices, seasons, users, formats.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01568"/>
            <a:ext cx="3566160" cy="932688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401568"/>
            <a:ext cx="45720" cy="93268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52958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Concept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82219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The input → outcome relationship itself changes over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43984"/>
            <a:ext cx="3566160" cy="932688"/>
          </a:xfrm>
          <a:prstGeom prst="roundRect">
            <a:avLst>
              <a:gd name="adj" fmla="val 6000"/>
            </a:avLst>
          </a:prstGeom>
          <a:solidFill>
            <a:srgbClr val="1C1A31"/>
          </a:solidFill>
          <a:ln w="12700">
            <a:solidFill>
              <a:srgbClr val="83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443984"/>
            <a:ext cx="45720" cy="93268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457200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Label lag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86460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Ground truth arrives late, so quality decays unnoticed.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1499616"/>
            <a:ext cx="45720" cy="18288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92624" y="1463040"/>
            <a:ext cx="66202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4CC9F0"/>
                </a:solidFill>
                <a:latin typeface="Arial"/>
              </a:rPr>
              <a:t>THE MONITORING LOOP THAT NEVER SLEEPS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0" y="1874519"/>
            <a:ext cx="2834640" cy="530352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1 · Live traffic &amp; requests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1874519"/>
            <a:ext cx="2999232" cy="530352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2 · Log inputs, outputs, latency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0" y="2139696"/>
            <a:ext cx="457200" cy="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86800" y="2926080"/>
            <a:ext cx="2999232" cy="530352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3 · Ground truth &amp; labels arrive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186416" y="2404872"/>
            <a:ext cx="0" cy="521208"/>
          </a:xfrm>
          <a:prstGeom prst="line">
            <a:avLst/>
          </a:prstGeom>
          <a:ln w="1778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mond 32"/>
          <p:cNvSpPr/>
          <p:nvPr/>
        </p:nvSpPr>
        <p:spPr>
          <a:xfrm>
            <a:off x="9317736" y="3822191"/>
            <a:ext cx="1737360" cy="914400"/>
          </a:xfrm>
          <a:prstGeom prst="diamond">
            <a:avLst/>
          </a:prstGeom>
          <a:solidFill>
            <a:srgbClr val="2D2B2A"/>
          </a:solidFill>
          <a:ln w="1524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17736" y="3822191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drift or metric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drop detected?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186416" y="3456432"/>
            <a:ext cx="0" cy="365759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035040" y="4041648"/>
            <a:ext cx="2834640" cy="530352"/>
          </a:xfrm>
          <a:prstGeom prst="roundRect">
            <a:avLst>
              <a:gd name="adj" fmla="val 14000"/>
            </a:avLst>
          </a:prstGeom>
          <a:solidFill>
            <a:srgbClr val="0F2636"/>
          </a:solidFill>
          <a:ln w="12700">
            <a:solidFill>
              <a:srgbClr val="1D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Keep serving · no change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8869680" y="4279392"/>
            <a:ext cx="448056" cy="0"/>
          </a:xfrm>
          <a:prstGeom prst="line">
            <a:avLst/>
          </a:prstGeom>
          <a:ln w="1778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906256" y="402336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rial"/>
              </a:rPr>
              <a:t>no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5138928"/>
            <a:ext cx="2834640" cy="530352"/>
          </a:xfrm>
          <a:prstGeom prst="roundRect">
            <a:avLst>
              <a:gd name="adj" fmla="val 14000"/>
            </a:avLst>
          </a:prstGeom>
          <a:solidFill>
            <a:srgbClr val="231C34"/>
          </a:solidFill>
          <a:ln w="12700">
            <a:solidFill>
              <a:srgbClr val="7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Alert &amp; auto-retrain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186416" y="4736592"/>
            <a:ext cx="0" cy="667512"/>
          </a:xfrm>
          <a:prstGeom prst="line">
            <a:avLst/>
          </a:prstGeom>
          <a:ln w="1778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869680" y="5404104"/>
            <a:ext cx="1316736" cy="0"/>
          </a:xfrm>
          <a:prstGeom prst="line">
            <a:avLst/>
          </a:prstGeom>
          <a:ln w="1778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44000" y="497433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rial"/>
              </a:rPr>
              <a:t>yes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4937760" y="5404104"/>
            <a:ext cx="1097280" cy="0"/>
          </a:xfrm>
          <a:prstGeom prst="line">
            <a:avLst/>
          </a:prstGeom>
          <a:ln w="16510">
            <a:solidFill>
              <a:srgbClr val="FB71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37760" y="2139696"/>
            <a:ext cx="0" cy="3264408"/>
          </a:xfrm>
          <a:prstGeom prst="line">
            <a:avLst/>
          </a:prstGeom>
          <a:ln w="16510">
            <a:solidFill>
              <a:srgbClr val="FB71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37760" y="2139696"/>
            <a:ext cx="457200" cy="0"/>
          </a:xfrm>
          <a:prstGeom prst="line">
            <a:avLst/>
          </a:prstGeom>
          <a:ln w="16510">
            <a:solidFill>
              <a:srgbClr val="FB71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 rot="16200000">
            <a:off x="4041648" y="3703320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rial"/>
              </a:rPr>
              <a:t>retrained model back into service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0" y="5943600"/>
            <a:ext cx="6839712" cy="457200"/>
          </a:xfrm>
          <a:prstGeom prst="roundRect">
            <a:avLst>
              <a:gd name="adj" fmla="val 16000"/>
            </a:avLst>
          </a:prstGeom>
          <a:solidFill>
            <a:srgbClr val="12253F"/>
          </a:solidFill>
          <a:ln w="12700">
            <a:solidFill>
              <a:srgbClr val="245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847234" y="6071616"/>
            <a:ext cx="50292" cy="201167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65776" y="6035040"/>
            <a:ext cx="64373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4CC9F0"/>
                </a:solidFill>
                <a:latin typeface="Arial"/>
              </a:rPr>
              <a:t>Monitoring is the new testing: 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the same metrics you measured before release keep being measured after it — and they trigger the next release.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D  ·  GENERATIVE AI &amp; LLM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How a Large Language Model Actually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A transformer predicts one token at a time — everything else in the system exists to steer, ground and check those predictions.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99616"/>
            <a:ext cx="45720" cy="1828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1463040"/>
            <a:ext cx="497433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FBBF24"/>
                </a:solidFill>
                <a:latin typeface="Arial"/>
              </a:rPr>
              <a:t>GENERATION, ONE TOKEN AT A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1810512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1E21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Prompt: system rules, history, user input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2267712"/>
            <a:ext cx="0" cy="164592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234440" y="2432304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1E21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Tokenise — text becomes token IDs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2889504"/>
            <a:ext cx="0" cy="164592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234440" y="3054096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1E21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Embeddings — each token becomes a vector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88920" y="3511296"/>
            <a:ext cx="0" cy="164591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234440" y="3675887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1E21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Attention over transformer blocks (context)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88920" y="4133087"/>
            <a:ext cx="0" cy="164592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234440" y="4297679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1E21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Logits → probability of every next token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88920" y="4754879"/>
            <a:ext cx="0" cy="164592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234440" y="4919471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1E21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Sample one token, append, repeat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88920" y="5376672"/>
            <a:ext cx="0" cy="164592"/>
          </a:xfrm>
          <a:prstGeom prst="line">
            <a:avLst/>
          </a:prstGeom>
          <a:ln w="16510">
            <a:solidFill>
              <a:srgbClr val="FBBF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22960" y="5541264"/>
            <a:ext cx="1965960" cy="0"/>
          </a:xfrm>
          <a:prstGeom prst="line">
            <a:avLst/>
          </a:prstGeom>
          <a:ln w="16510">
            <a:solidFill>
              <a:srgbClr val="FBBF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22960" y="2039112"/>
            <a:ext cx="0" cy="3502152"/>
          </a:xfrm>
          <a:prstGeom prst="line">
            <a:avLst/>
          </a:prstGeom>
          <a:ln w="16510">
            <a:solidFill>
              <a:srgbClr val="FBBF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2960" y="2039112"/>
            <a:ext cx="411480" cy="0"/>
          </a:xfrm>
          <a:prstGeom prst="line">
            <a:avLst/>
          </a:prstGeom>
          <a:ln w="16510">
            <a:solidFill>
              <a:srgbClr val="FBBF2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80160" y="559612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FBBF24"/>
                </a:solidFill>
                <a:latin typeface="Arial"/>
              </a:rPr>
              <a:t>repeats until a stop token or length limit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1499616"/>
            <a:ext cx="45720" cy="18288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15584" y="1463040"/>
            <a:ext cx="5870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4CC9F0"/>
                </a:solidFill>
                <a:latin typeface="Arial"/>
              </a:rPr>
              <a:t>WHAT GOES INTO ONE REQUEST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1810512"/>
            <a:ext cx="6016752" cy="201168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897880" y="2121408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192244"/>
          </a:solidFill>
          <a:ln w="12700">
            <a:solidFill>
              <a:srgbClr val="4650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System prompt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6056" y="2121408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132943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History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14232" y="2121408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0A2640"/>
          </a:solidFill>
          <a:ln w="12700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User message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22408" y="2121408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1E2144"/>
          </a:solidFill>
          <a:ln w="12700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>
                <a:solidFill>
                  <a:srgbClr val="F8FAFC"/>
                </a:solidFill>
                <a:latin typeface="Arial"/>
              </a:rPr>
              <a:t>Retrieved ctx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59368" y="2523744"/>
            <a:ext cx="0" cy="219456"/>
          </a:xfrm>
          <a:prstGeom prst="line">
            <a:avLst/>
          </a:prstGeom>
          <a:ln w="1778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680960" y="2743200"/>
            <a:ext cx="1965960" cy="420624"/>
          </a:xfrm>
          <a:prstGeom prst="roundRect">
            <a:avLst>
              <a:gd name="adj" fmla="val 14000"/>
            </a:avLst>
          </a:prstGeom>
          <a:solidFill>
            <a:srgbClr val="28282A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LLM  ·  forward pass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659368" y="3163824"/>
            <a:ext cx="0" cy="182880"/>
          </a:xfrm>
          <a:prstGeom prst="line">
            <a:avLst/>
          </a:prstGeom>
          <a:ln w="1778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903720" y="3346704"/>
            <a:ext cx="3520440" cy="384048"/>
          </a:xfrm>
          <a:prstGeom prst="roundRect">
            <a:avLst>
              <a:gd name="adj" fmla="val 14000"/>
            </a:avLst>
          </a:prstGeom>
          <a:solidFill>
            <a:srgbClr val="223054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Response: tokens · text · stop reason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4023360"/>
            <a:ext cx="45720" cy="1828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15584" y="3986784"/>
            <a:ext cx="5870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A78BFA"/>
                </a:solidFill>
                <a:latin typeface="Arial"/>
              </a:rPr>
              <a:t>KNOBS AN ENGINEER ACTUALLY TUNES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0" y="4334256"/>
            <a:ext cx="1920240" cy="56692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669280" y="4334256"/>
            <a:ext cx="4572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15584" y="4416552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temperature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463600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creativity vs determinism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17536" y="4334256"/>
            <a:ext cx="1920240" cy="56692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717536" y="4334256"/>
            <a:ext cx="4572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63840" y="4416552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top-p / top-k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463600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how wide the sampling pool is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65792" y="4334256"/>
            <a:ext cx="1920240" cy="56692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765792" y="4334256"/>
            <a:ext cx="4572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912096" y="4416552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max tokens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12096" y="463600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cost and latency ceiling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0" y="4992624"/>
            <a:ext cx="1920240" cy="56692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669280" y="4992624"/>
            <a:ext cx="4572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15584" y="5074920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tools / JSON mode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15584" y="5294376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structured, actionable output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17536" y="4992624"/>
            <a:ext cx="1920240" cy="56692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717536" y="4992624"/>
            <a:ext cx="4572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63840" y="5074920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guardrails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5294376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refusals, filters, allowed topics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65792" y="4992624"/>
            <a:ext cx="1920240" cy="56692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765792" y="4992624"/>
            <a:ext cx="4572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912096" y="5074920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eval &amp; budget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12096" y="5294376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quality per rupee, per request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1B1F40"/>
          </a:solidFill>
          <a:ln w="12700">
            <a:solidFill>
              <a:srgbClr val="464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03834" y="6071616"/>
            <a:ext cx="50292" cy="201167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22376" y="6035040"/>
            <a:ext cx="107807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rial"/>
              </a:rPr>
              <a:t>GenAI changes the interface, not the discipline: 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prompts, models and datasets still need versioning, evaluation, monitoring and rollback — the loop on slide 15 applies unchanged.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D  ·  GENERATIVE AI &amp; LLM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RAG — Grounding the Model in Your Own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Retrieve first, generate second: the model answers from passages it was given, and can cite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 spc="140">
                <a:solidFill>
                  <a:srgbClr val="94A3B8"/>
                </a:solidFill>
                <a:latin typeface="Arial"/>
              </a:rPr>
              <a:t>INGESTION  ·  runs offline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47088"/>
            <a:ext cx="2679192" cy="502920"/>
          </a:xfrm>
          <a:prstGeom prst="roundRect">
            <a:avLst>
              <a:gd name="adj" fmla="val 14000"/>
            </a:avLst>
          </a:prstGeom>
          <a:solidFill>
            <a:srgbClr val="191E3E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Source documents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82112" y="2098548"/>
            <a:ext cx="155448" cy="0"/>
          </a:xfrm>
          <a:prstGeom prst="line">
            <a:avLst/>
          </a:prstGeom>
          <a:ln w="17780">
            <a:solidFill>
              <a:srgbClr val="A78BF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37560" y="1847088"/>
            <a:ext cx="2679192" cy="502920"/>
          </a:xfrm>
          <a:prstGeom prst="roundRect">
            <a:avLst>
              <a:gd name="adj" fmla="val 14000"/>
            </a:avLst>
          </a:prstGeom>
          <a:solidFill>
            <a:srgbClr val="191E3E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Chunk &amp; clean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16752" y="2098548"/>
            <a:ext cx="155448" cy="0"/>
          </a:xfrm>
          <a:prstGeom prst="line">
            <a:avLst/>
          </a:prstGeom>
          <a:ln w="17780">
            <a:solidFill>
              <a:srgbClr val="A78BF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2200" y="1847088"/>
            <a:ext cx="2679192" cy="502920"/>
          </a:xfrm>
          <a:prstGeom prst="roundRect">
            <a:avLst>
              <a:gd name="adj" fmla="val 14000"/>
            </a:avLst>
          </a:prstGeom>
          <a:solidFill>
            <a:srgbClr val="191E3E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Embed chunks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51392" y="2098548"/>
            <a:ext cx="155448" cy="0"/>
          </a:xfrm>
          <a:prstGeom prst="line">
            <a:avLst/>
          </a:prstGeom>
          <a:ln w="17780">
            <a:solidFill>
              <a:srgbClr val="A78BF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06840" y="1847088"/>
            <a:ext cx="2679192" cy="502920"/>
          </a:xfrm>
          <a:prstGeom prst="roundRect">
            <a:avLst>
              <a:gd name="adj" fmla="val 14000"/>
            </a:avLst>
          </a:prstGeom>
          <a:solidFill>
            <a:srgbClr val="191E3E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Vector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798063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 spc="140">
                <a:solidFill>
                  <a:srgbClr val="94A3B8"/>
                </a:solidFill>
                <a:latin typeface="Arial"/>
              </a:rPr>
              <a:t>RETRIEVAL  ·  runs per 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035808"/>
            <a:ext cx="2679192" cy="502920"/>
          </a:xfrm>
          <a:prstGeom prst="roundRect">
            <a:avLst>
              <a:gd name="adj" fmla="val 14000"/>
            </a:avLst>
          </a:prstGeom>
          <a:solidFill>
            <a:srgbClr val="11233D"/>
          </a:solidFill>
          <a:ln w="12700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User question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82112" y="3287268"/>
            <a:ext cx="155448" cy="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337560" y="3035808"/>
            <a:ext cx="2679192" cy="502920"/>
          </a:xfrm>
          <a:prstGeom prst="roundRect">
            <a:avLst>
              <a:gd name="adj" fmla="val 14000"/>
            </a:avLst>
          </a:prstGeom>
          <a:solidFill>
            <a:srgbClr val="11233D"/>
          </a:solidFill>
          <a:ln w="12700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Embed the query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6752" y="3287268"/>
            <a:ext cx="155448" cy="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3035808"/>
            <a:ext cx="2679192" cy="502920"/>
          </a:xfrm>
          <a:prstGeom prst="roundRect">
            <a:avLst>
              <a:gd name="adj" fmla="val 14000"/>
            </a:avLst>
          </a:prstGeom>
          <a:solidFill>
            <a:srgbClr val="11233D"/>
          </a:solidFill>
          <a:ln w="12700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Similarity search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51392" y="3287268"/>
            <a:ext cx="155448" cy="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06840" y="3035808"/>
            <a:ext cx="2679192" cy="502920"/>
          </a:xfrm>
          <a:prstGeom prst="roundRect">
            <a:avLst>
              <a:gd name="adj" fmla="val 14000"/>
            </a:avLst>
          </a:prstGeom>
          <a:solidFill>
            <a:srgbClr val="11233D"/>
          </a:solidFill>
          <a:ln w="12700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Top-k passages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98678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 spc="140">
                <a:solidFill>
                  <a:srgbClr val="94A3B8"/>
                </a:solidFill>
                <a:latin typeface="Arial"/>
              </a:rPr>
              <a:t>GENERATION  ·  runs per request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224528"/>
            <a:ext cx="2679192" cy="502920"/>
          </a:xfrm>
          <a:prstGeom prst="roundRect">
            <a:avLst>
              <a:gd name="adj" fmla="val 14000"/>
            </a:avLst>
          </a:prstGeom>
          <a:solidFill>
            <a:srgbClr val="0A213B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Question + passages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82112" y="4475988"/>
            <a:ext cx="155448" cy="0"/>
          </a:xfrm>
          <a:prstGeom prst="line">
            <a:avLst/>
          </a:prstGeom>
          <a:ln w="17780">
            <a:solidFill>
              <a:srgbClr val="00B4D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337560" y="4224528"/>
            <a:ext cx="2679192" cy="502920"/>
          </a:xfrm>
          <a:prstGeom prst="roundRect">
            <a:avLst>
              <a:gd name="adj" fmla="val 14000"/>
            </a:avLst>
          </a:prstGeom>
          <a:solidFill>
            <a:srgbClr val="0A213B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LLM generates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16752" y="4475988"/>
            <a:ext cx="155448" cy="0"/>
          </a:xfrm>
          <a:prstGeom prst="line">
            <a:avLst/>
          </a:prstGeom>
          <a:ln w="17780">
            <a:solidFill>
              <a:srgbClr val="00B4D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72200" y="4224528"/>
            <a:ext cx="2679192" cy="502920"/>
          </a:xfrm>
          <a:prstGeom prst="roundRect">
            <a:avLst>
              <a:gd name="adj" fmla="val 14000"/>
            </a:avLst>
          </a:prstGeom>
          <a:solidFill>
            <a:srgbClr val="0A213B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Answer + citations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51392" y="4475988"/>
            <a:ext cx="155448" cy="0"/>
          </a:xfrm>
          <a:prstGeom prst="line">
            <a:avLst/>
          </a:prstGeom>
          <a:ln w="17780">
            <a:solidFill>
              <a:srgbClr val="00B4D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06840" y="4224528"/>
            <a:ext cx="2679192" cy="502920"/>
          </a:xfrm>
          <a:prstGeom prst="roundRect">
            <a:avLst>
              <a:gd name="adj" fmla="val 14000"/>
            </a:avLst>
          </a:prstGeom>
          <a:solidFill>
            <a:srgbClr val="0A213B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Retrieval eval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341864" y="2350008"/>
            <a:ext cx="0" cy="338328"/>
          </a:xfrm>
          <a:prstGeom prst="line">
            <a:avLst/>
          </a:prstGeom>
          <a:ln w="1778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507224" y="2688336"/>
            <a:ext cx="2834640" cy="0"/>
          </a:xfrm>
          <a:prstGeom prst="line">
            <a:avLst/>
          </a:prstGeom>
          <a:ln w="1778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07224" y="2688336"/>
            <a:ext cx="0" cy="347472"/>
          </a:xfrm>
          <a:prstGeom prst="line">
            <a:avLst/>
          </a:prstGeom>
          <a:ln w="1778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341864" y="3538728"/>
            <a:ext cx="0" cy="320040"/>
          </a:xfrm>
          <a:prstGeom prst="line">
            <a:avLst/>
          </a:prstGeom>
          <a:ln w="1778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837943" y="3858768"/>
            <a:ext cx="8503921" cy="0"/>
          </a:xfrm>
          <a:prstGeom prst="line">
            <a:avLst/>
          </a:prstGeom>
          <a:ln w="1778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837943" y="3858768"/>
            <a:ext cx="0" cy="365760"/>
          </a:xfrm>
          <a:prstGeom prst="line">
            <a:avLst/>
          </a:prstGeom>
          <a:ln w="1778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02920" y="4956048"/>
            <a:ext cx="3657600" cy="82296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505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02920" y="4956048"/>
            <a:ext cx="45720" cy="82296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" y="5065776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Prompt-only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340096"/>
            <a:ext cx="331012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CBD5E1"/>
                </a:solidFill>
                <a:latin typeface="Arial"/>
              </a:rPr>
              <a:t>Cheap and instant, but the model only knows what its weights already contain — and the context window is finite.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1960" y="4956048"/>
            <a:ext cx="3657600" cy="822960"/>
          </a:xfrm>
          <a:prstGeom prst="roundRect">
            <a:avLst>
              <a:gd name="adj" fmla="val 6000"/>
            </a:avLst>
          </a:prstGeom>
          <a:solidFill>
            <a:srgbClr val="0A233C"/>
          </a:solidFill>
          <a:ln w="12700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251960" y="4956048"/>
            <a:ext cx="4572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0" y="5065776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RAG  ·  retrieval-augmented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5340096"/>
            <a:ext cx="331012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CBD5E1"/>
                </a:solidFill>
                <a:latin typeface="Arial"/>
              </a:rPr>
              <a:t>Answers are grounded in live, permissioned data; passages are cited, the index updates without retraining, and cost stays predictable.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01000" y="4956048"/>
            <a:ext cx="3657600" cy="82296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001000" y="4956048"/>
            <a:ext cx="45720" cy="8229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83879" y="5065776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Fine-tuning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5340096"/>
            <a:ext cx="331012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CBD5E1"/>
                </a:solidFill>
                <a:latin typeface="Arial"/>
              </a:rPr>
              <a:t>Bakes style, format and behaviour into the weights — expensive, hard to undo, and it does not add new facts.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0A233C"/>
          </a:solidFill>
          <a:ln w="12700">
            <a:solidFill>
              <a:srgbClr val="075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3834" y="6071616"/>
            <a:ext cx="50292" cy="201167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2376" y="6035040"/>
            <a:ext cx="107807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00B4D8"/>
                </a:solidFill>
                <a:latin typeface="Arial"/>
              </a:rPr>
              <a:t>RAG is a software architecture, 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not a model trick — chunking, embeddings, index freshness and citation checks are all engineering decisions you can test.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E  ·  TESTING &amp; 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Testing AI Systems — Three Suites, One Discipline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Unit tests still matter. They are simply no longer sufficient: you must also test the data, the statistics and the failure modes.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10512"/>
            <a:ext cx="201716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Spec &amp; requirements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86" y="2039112"/>
            <a:ext cx="274320" cy="0"/>
          </a:xfrm>
          <a:prstGeom prst="line">
            <a:avLst/>
          </a:prstGeom>
          <a:ln w="17780">
            <a:solidFill>
              <a:srgbClr val="3589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4406" y="1810512"/>
            <a:ext cx="201716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Unit &amp; integration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11572" y="2039112"/>
            <a:ext cx="274320" cy="0"/>
          </a:xfrm>
          <a:prstGeom prst="line">
            <a:avLst/>
          </a:prstGeom>
          <a:ln w="17780">
            <a:solidFill>
              <a:srgbClr val="3589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85892" y="1810512"/>
            <a:ext cx="201716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Model evaluation tests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03059" y="2039112"/>
            <a:ext cx="274320" cy="0"/>
          </a:xfrm>
          <a:prstGeom prst="line">
            <a:avLst/>
          </a:prstGeom>
          <a:ln w="17780">
            <a:solidFill>
              <a:srgbClr val="3589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77379" y="1810512"/>
            <a:ext cx="201716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Adversarial &amp; safety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94545" y="2039112"/>
            <a:ext cx="274320" cy="0"/>
          </a:xfrm>
          <a:prstGeom prst="line">
            <a:avLst/>
          </a:prstGeom>
          <a:ln w="17780">
            <a:solidFill>
              <a:srgbClr val="3589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68865" y="1810512"/>
            <a:ext cx="2017166" cy="457200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Runtime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340864"/>
            <a:ext cx="11183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160">
                <a:solidFill>
                  <a:srgbClr val="94A3B8"/>
                </a:solidFill>
                <a:latin typeface="Arial"/>
              </a:rPr>
              <a:t>THE FULL TEST PYRAMID FOR AN AI-ENABLED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697480"/>
            <a:ext cx="3630168" cy="292608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615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2697480"/>
            <a:ext cx="3630168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288950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1  ·  Data &amp; statistical 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" y="3255264"/>
            <a:ext cx="3191256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6" y="3401568"/>
            <a:ext cx="3200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000" b="0" i="0">
                <a:solidFill>
                  <a:srgbClr val="A78BFA"/>
                </a:solidFill>
                <a:latin typeface="Arial"/>
              </a:rPr>
              <a:t>▸  </a:t>
            </a:r>
            <a:r>
              <a:rPr sz="1000" b="0" i="0">
                <a:solidFill>
                  <a:srgbClr val="CBD5E1"/>
                </a:solidFill>
                <a:latin typeface="Arial"/>
              </a:rPr>
              <a:t>Schema, null and range checks on every batch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000" b="0" i="0">
                <a:solidFill>
                  <a:srgbClr val="A78BFA"/>
                </a:solidFill>
                <a:latin typeface="Arial"/>
              </a:rPr>
              <a:t>▸  </a:t>
            </a:r>
            <a:r>
              <a:rPr sz="1000" b="0" i="0">
                <a:solidFill>
                  <a:srgbClr val="CBD5E1"/>
                </a:solidFill>
                <a:latin typeface="Arial"/>
              </a:rPr>
              <a:t>Train / serve skew and feature drift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000" b="0" i="0">
                <a:solidFill>
                  <a:srgbClr val="A78BFA"/>
                </a:solidFill>
                <a:latin typeface="Arial"/>
              </a:rPr>
              <a:t>▸  </a:t>
            </a:r>
            <a:r>
              <a:rPr sz="1000" b="0" i="0">
                <a:solidFill>
                  <a:srgbClr val="CBD5E1"/>
                </a:solidFill>
                <a:latin typeface="Arial"/>
              </a:rPr>
              <a:t>Label leakage and train-test contamination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000" b="0" i="0">
                <a:solidFill>
                  <a:srgbClr val="A78BFA"/>
                </a:solidFill>
                <a:latin typeface="Arial"/>
              </a:rPr>
              <a:t>▸  </a:t>
            </a:r>
            <a:r>
              <a:rPr sz="1000" b="0" i="0">
                <a:solidFill>
                  <a:srgbClr val="CBD5E1"/>
                </a:solidFill>
                <a:latin typeface="Arial"/>
              </a:rPr>
              <a:t>Drift thresholds that trip the retrain job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52303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7061B2"/>
                </a:solidFill>
                <a:latin typeface="Arial"/>
              </a:rPr>
              <a:t>catches bad input before it becomes a bad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9392" y="2697480"/>
            <a:ext cx="3630168" cy="292608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8F7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79392" y="2697480"/>
            <a:ext cx="3630168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98848" y="288950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2  ·  Model &amp; behavioural tests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98848" y="3255264"/>
            <a:ext cx="3191256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98848" y="3401568"/>
            <a:ext cx="3200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000" b="0" i="0">
                <a:solidFill>
                  <a:srgbClr val="FBBF24"/>
                </a:solidFill>
                <a:latin typeface="Arial"/>
              </a:rPr>
              <a:t>▸  </a:t>
            </a:r>
            <a:r>
              <a:rPr sz="1000" b="0" i="0">
                <a:solidFill>
                  <a:srgbClr val="CBD5E1"/>
                </a:solidFill>
                <a:latin typeface="Arial"/>
              </a:rPr>
              <a:t>Metric vs baseline on a held-out test set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000" b="0" i="0">
                <a:solidFill>
                  <a:srgbClr val="FBBF24"/>
                </a:solidFill>
                <a:latin typeface="Arial"/>
              </a:rPr>
              <a:t>▸  </a:t>
            </a:r>
            <a:r>
              <a:rPr sz="1000" b="0" i="0">
                <a:solidFill>
                  <a:srgbClr val="CBD5E1"/>
                </a:solidFill>
                <a:latin typeface="Arial"/>
              </a:rPr>
              <a:t>Quality sliced by segment, group and region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000" b="0" i="0">
                <a:solidFill>
                  <a:srgbClr val="FBBF24"/>
                </a:solidFill>
                <a:latin typeface="Arial"/>
              </a:rPr>
              <a:t>▸  </a:t>
            </a:r>
            <a:r>
              <a:rPr sz="1000" b="0" i="0">
                <a:solidFill>
                  <a:srgbClr val="CBD5E1"/>
                </a:solidFill>
                <a:latin typeface="Arial"/>
              </a:rPr>
              <a:t>Robustness to noise, perturbation and edge cases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000" b="0" i="0">
                <a:solidFill>
                  <a:srgbClr val="FBBF24"/>
                </a:solidFill>
                <a:latin typeface="Arial"/>
              </a:rPr>
              <a:t>▸  </a:t>
            </a:r>
            <a:r>
              <a:rPr sz="1000" b="0" i="0">
                <a:solidFill>
                  <a:srgbClr val="CBD5E1"/>
                </a:solidFill>
                <a:latin typeface="Arial"/>
              </a:rPr>
              <a:t>Fairness, calibration and confidence intervals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52303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78326"/>
                </a:solidFill>
                <a:latin typeface="Arial"/>
              </a:rPr>
              <a:t>judges the model by statistics, not a spec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5864" y="2697480"/>
            <a:ext cx="3630168" cy="292608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F77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55864" y="2697480"/>
            <a:ext cx="3630168" cy="4572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75320" y="288950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3  ·  Software &amp; system tests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3255264"/>
            <a:ext cx="3191256" cy="13716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3401568"/>
            <a:ext cx="3200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000" b="0" i="0">
                <a:solidFill>
                  <a:srgbClr val="4CC9F0"/>
                </a:solidFill>
                <a:latin typeface="Arial"/>
              </a:rPr>
              <a:t>▸  </a:t>
            </a:r>
            <a:r>
              <a:rPr sz="1000" b="0" i="0">
                <a:solidFill>
                  <a:srgbClr val="CBD5E1"/>
                </a:solidFill>
                <a:latin typeface="Arial"/>
              </a:rPr>
              <a:t>API contract, schema and version tests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000" b="0" i="0">
                <a:solidFill>
                  <a:srgbClr val="4CC9F0"/>
                </a:solidFill>
                <a:latin typeface="Arial"/>
              </a:rPr>
              <a:t>▸  </a:t>
            </a:r>
            <a:r>
              <a:rPr sz="1000" b="0" i="0">
                <a:solidFill>
                  <a:srgbClr val="CBD5E1"/>
                </a:solidFill>
                <a:latin typeface="Arial"/>
              </a:rPr>
              <a:t>Latency, load and cost under peak traffic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000" b="0" i="0">
                <a:solidFill>
                  <a:srgbClr val="4CC9F0"/>
                </a:solidFill>
                <a:latin typeface="Arial"/>
              </a:rPr>
              <a:t>▸  </a:t>
            </a:r>
            <a:r>
              <a:rPr sz="1000" b="0" i="0">
                <a:solidFill>
                  <a:srgbClr val="CBD5E1"/>
                </a:solidFill>
                <a:latin typeface="Arial"/>
              </a:rPr>
              <a:t>Failure paths: timeouts, fallbacks, degraded mode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000" b="0" i="0">
                <a:solidFill>
                  <a:srgbClr val="4CC9F0"/>
                </a:solidFill>
                <a:latin typeface="Arial"/>
              </a:rPr>
              <a:t>▸  </a:t>
            </a:r>
            <a:r>
              <a:rPr sz="1000" b="0" i="0">
                <a:solidFill>
                  <a:srgbClr val="CBD5E1"/>
                </a:solidFill>
                <a:latin typeface="Arial"/>
              </a:rPr>
              <a:t>Prompt regression &amp; red-team attack suites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2303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3589AB"/>
                </a:solidFill>
                <a:latin typeface="Arial"/>
              </a:rPr>
              <a:t>treats the whole service like ordinary software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815584"/>
            <a:ext cx="11183112" cy="566928"/>
          </a:xfrm>
          <a:prstGeom prst="roundRect">
            <a:avLst>
              <a:gd name="adj" fmla="val 16000"/>
            </a:avLst>
          </a:prstGeom>
          <a:solidFill>
            <a:srgbClr val="23242A"/>
          </a:solidFill>
          <a:ln w="12700">
            <a:solidFill>
              <a:srgbClr val="665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3834" y="5943600"/>
            <a:ext cx="50292" cy="3108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2376" y="5907024"/>
            <a:ext cx="1078077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Arial"/>
              </a:rPr>
              <a:t>The oracle changes, the discipline does not: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repeatable inputs, expected outputs, regression suites and a gate that blocks the release — applied to data and behaviour as well as code.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E  ·  TESTING &amp; 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Responsible AI — The NIST AI RMF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Four functions run as a cycle around one goal: systems that are trustworthy enough to be used, and defended.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4650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265176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21488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 spc="120">
                <a:solidFill>
                  <a:srgbClr val="818CF8"/>
                </a:solidFill>
                <a:latin typeface="Arial"/>
              </a:rPr>
              <a:t>GOVERN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5146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Policies, roles, accountability, risk appetite and culture — set before anything is built.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96596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74720" y="1965960"/>
            <a:ext cx="2651760" cy="4572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75887" y="21488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 spc="120">
                <a:solidFill>
                  <a:srgbClr val="4CC9F0"/>
                </a:solidFill>
                <a:latin typeface="Arial"/>
              </a:rPr>
              <a:t>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25146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Context and intended use: who is affected, what can go wrong, and where the system sits.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84048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3474720" y="3840480"/>
            <a:ext cx="265176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75887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 spc="120">
                <a:solidFill>
                  <a:srgbClr val="FBBF24"/>
                </a:solidFill>
                <a:latin typeface="Arial"/>
              </a:rPr>
              <a:t>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438912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Run the tests from slide 18 — accuracy, drift, robustness, fairness, latency and cost.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4048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3840480"/>
            <a:ext cx="265176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 spc="120">
                <a:solidFill>
                  <a:srgbClr val="34D399"/>
                </a:solidFill>
                <a:latin typeface="Arial"/>
              </a:rPr>
              <a:t>MANAGE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438912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Prioritise, treat and respond: incident playbooks, human override and retraining decisions.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54680" y="2761488"/>
            <a:ext cx="320040" cy="0"/>
          </a:xfrm>
          <a:prstGeom prst="line">
            <a:avLst/>
          </a:prstGeom>
          <a:ln w="17780">
            <a:solidFill>
              <a:srgbClr val="818CF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800600" y="3566160"/>
            <a:ext cx="0" cy="27432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154680" y="4636008"/>
            <a:ext cx="320040" cy="0"/>
          </a:xfrm>
          <a:prstGeom prst="line">
            <a:avLst/>
          </a:prstGeom>
          <a:ln w="17780">
            <a:solidFill>
              <a:srgbClr val="FBBF2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828800" y="3566160"/>
            <a:ext cx="0" cy="274320"/>
          </a:xfrm>
          <a:prstGeom prst="line">
            <a:avLst/>
          </a:prstGeom>
          <a:ln w="17780">
            <a:solidFill>
              <a:srgbClr val="34D3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5541264"/>
            <a:ext cx="5623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94A3B8"/>
                </a:solidFill>
                <a:latin typeface="Arial"/>
              </a:rPr>
              <a:t>cyclical and continuous — each pass raises the risk bar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1499616"/>
            <a:ext cx="45720" cy="1828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92824" y="1463040"/>
            <a:ext cx="5093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00B4D8"/>
                </a:solidFill>
                <a:latin typeface="Arial"/>
              </a:rPr>
              <a:t>SEVEN TRAITS OF TRUSTWORTHY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1810512"/>
            <a:ext cx="5239512" cy="320040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675120" y="21396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31152" y="202996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Valid &amp; reliable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2368296"/>
            <a:ext cx="4754880" cy="9144"/>
          </a:xfrm>
          <a:prstGeom prst="rect">
            <a:avLst/>
          </a:prstGeom>
          <a:solidFill>
            <a:srgbClr val="18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675120" y="254203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31152" y="2432304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Safe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2770632"/>
            <a:ext cx="4754880" cy="9144"/>
          </a:xfrm>
          <a:prstGeom prst="rect">
            <a:avLst/>
          </a:prstGeom>
          <a:solidFill>
            <a:srgbClr val="18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675120" y="2944368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31152" y="283464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Secure &amp; resilient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172968"/>
            <a:ext cx="4754880" cy="9144"/>
          </a:xfrm>
          <a:prstGeom prst="rect">
            <a:avLst/>
          </a:prstGeom>
          <a:solidFill>
            <a:srgbClr val="18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675120" y="3346704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31152" y="3236976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Accountable &amp; transparent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3575304"/>
            <a:ext cx="4754880" cy="9144"/>
          </a:xfrm>
          <a:prstGeom prst="rect">
            <a:avLst/>
          </a:prstGeom>
          <a:solidFill>
            <a:srgbClr val="18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675120" y="374904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31152" y="36393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Explainable &amp; interpretable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3977640"/>
            <a:ext cx="4754880" cy="9144"/>
          </a:xfrm>
          <a:prstGeom prst="rect">
            <a:avLst/>
          </a:prstGeom>
          <a:solidFill>
            <a:srgbClr val="18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675120" y="4151376"/>
            <a:ext cx="109728" cy="109728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31152" y="404164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Privacy-enhanced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4379976"/>
            <a:ext cx="4754880" cy="9144"/>
          </a:xfrm>
          <a:prstGeom prst="rect">
            <a:avLst/>
          </a:prstGeom>
          <a:solidFill>
            <a:srgbClr val="18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675120" y="4553712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31152" y="4443984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Fair — harmful bias managed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46520" y="5175504"/>
            <a:ext cx="5239512" cy="676656"/>
          </a:xfrm>
          <a:prstGeom prst="roundRect">
            <a:avLst>
              <a:gd name="adj" fmla="val 6000"/>
            </a:avLst>
          </a:prstGeom>
          <a:solidFill>
            <a:srgbClr val="1E1B32"/>
          </a:solidFill>
          <a:ln w="12700">
            <a:solidFill>
              <a:srgbClr val="83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46520" y="5175504"/>
            <a:ext cx="45720" cy="67665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75120" y="5285232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B7185"/>
                </a:solidFill>
                <a:latin typeface="Arial"/>
              </a:rPr>
              <a:t>Human in the loop. 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High-impact decisions stay reviewable, appealable and logged.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171F40"/>
          </a:solidFill>
          <a:ln w="12700">
            <a:solidFill>
              <a:srgbClr val="3841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3834" y="6071616"/>
            <a:ext cx="50292" cy="201167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22376" y="6035040"/>
            <a:ext cx="107807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818CF8"/>
                </a:solidFill>
                <a:latin typeface="Arial"/>
              </a:rPr>
              <a:t>Governance is not a gate at the end: 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it is the frame around every step — from requirements on slide 3 to monitoring on slide 15.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F  ·  PULLING IT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Traditional SE vs AI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Same engineering profession, two different definitions of "done" — and the second one never fully closes.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10512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223054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29000" y="1810512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132943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 spc="90">
                <a:solidFill>
                  <a:srgbClr val="4CC9F0"/>
                </a:solidFill>
                <a:latin typeface="Arial"/>
              </a:rPr>
              <a:t>TRADITIONAL SOFTWARE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810512"/>
            <a:ext cx="4050791" cy="457200"/>
          </a:xfrm>
          <a:prstGeom prst="roundRect">
            <a:avLst>
              <a:gd name="adj" fmla="val 14000"/>
            </a:avLst>
          </a:prstGeom>
          <a:solidFill>
            <a:srgbClr val="28282A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 spc="90">
                <a:solidFill>
                  <a:srgbClr val="FBBF24"/>
                </a:solidFill>
                <a:latin typeface="Arial"/>
              </a:rPr>
              <a:t>AI / ML 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59152"/>
            <a:ext cx="2743200" cy="493776"/>
          </a:xfrm>
          <a:prstGeom prst="roundRect">
            <a:avLst>
              <a:gd name="adj" fmla="val 14000"/>
            </a:avLst>
          </a:prstGeom>
          <a:solidFill>
            <a:srgbClr val="223054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Primary artifact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359152"/>
            <a:ext cx="4023360" cy="493776"/>
          </a:xfrm>
          <a:prstGeom prst="roundRect">
            <a:avLst>
              <a:gd name="adj" fmla="val 14000"/>
            </a:avLst>
          </a:prstGeom>
          <a:solidFill>
            <a:srgbClr val="0E1C35"/>
          </a:solidFill>
          <a:ln w="12700">
            <a:solidFill>
              <a:srgbClr val="25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CBD5E1"/>
                </a:solidFill>
                <a:latin typeface="Arial"/>
              </a:rPr>
              <a:t>Code, architecture documents,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359152"/>
            <a:ext cx="4050791" cy="493776"/>
          </a:xfrm>
          <a:prstGeom prst="roundRect">
            <a:avLst>
              <a:gd name="adj" fmla="val 14000"/>
            </a:avLst>
          </a:prstGeom>
          <a:solidFill>
            <a:srgbClr val="171C2B"/>
          </a:solidFill>
          <a:ln w="12700">
            <a:solidFill>
              <a:srgbClr val="6B5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CBD5E1"/>
                </a:solidFill>
                <a:latin typeface="Arial"/>
              </a:rPr>
              <a:t>Code + data + model +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07792"/>
            <a:ext cx="2743200" cy="493776"/>
          </a:xfrm>
          <a:prstGeom prst="roundRect">
            <a:avLst>
              <a:gd name="adj" fmla="val 14000"/>
            </a:avLst>
          </a:prstGeom>
          <a:solidFill>
            <a:srgbClr val="223054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Definition of 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2907792"/>
            <a:ext cx="4023360" cy="493776"/>
          </a:xfrm>
          <a:prstGeom prst="roundRect">
            <a:avLst>
              <a:gd name="adj" fmla="val 14000"/>
            </a:avLst>
          </a:prstGeom>
          <a:solidFill>
            <a:srgbClr val="0E1C35"/>
          </a:solidFill>
          <a:ln w="12700">
            <a:solidFill>
              <a:srgbClr val="25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CBD5E1"/>
                </a:solidFill>
                <a:latin typeface="Arial"/>
              </a:rPr>
              <a:t>Conforms to the specification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907792"/>
            <a:ext cx="4050791" cy="493776"/>
          </a:xfrm>
          <a:prstGeom prst="roundRect">
            <a:avLst>
              <a:gd name="adj" fmla="val 14000"/>
            </a:avLst>
          </a:prstGeom>
          <a:solidFill>
            <a:srgbClr val="171C2B"/>
          </a:solidFill>
          <a:ln w="12700">
            <a:solidFill>
              <a:srgbClr val="6B5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CBD5E1"/>
                </a:solidFill>
                <a:latin typeface="Arial"/>
              </a:rPr>
              <a:t>Meets a statistical target on unseen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56432"/>
            <a:ext cx="2743200" cy="493776"/>
          </a:xfrm>
          <a:prstGeom prst="roundRect">
            <a:avLst>
              <a:gd name="adj" fmla="val 14000"/>
            </a:avLst>
          </a:prstGeom>
          <a:solidFill>
            <a:srgbClr val="223054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Test oracle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456432"/>
            <a:ext cx="4023360" cy="493776"/>
          </a:xfrm>
          <a:prstGeom prst="roundRect">
            <a:avLst>
              <a:gd name="adj" fmla="val 14000"/>
            </a:avLst>
          </a:prstGeom>
          <a:solidFill>
            <a:srgbClr val="0E1C35"/>
          </a:solidFill>
          <a:ln w="12700">
            <a:solidFill>
              <a:srgbClr val="25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CBD5E1"/>
                </a:solidFill>
                <a:latin typeface="Arial"/>
              </a:rPr>
              <a:t>Deterministic expected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3456432"/>
            <a:ext cx="4050791" cy="493776"/>
          </a:xfrm>
          <a:prstGeom prst="roundRect">
            <a:avLst>
              <a:gd name="adj" fmla="val 14000"/>
            </a:avLst>
          </a:prstGeom>
          <a:solidFill>
            <a:srgbClr val="171C2B"/>
          </a:solidFill>
          <a:ln w="12700">
            <a:solidFill>
              <a:srgbClr val="6B5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CBD5E1"/>
                </a:solidFill>
                <a:latin typeface="Arial"/>
              </a:rPr>
              <a:t>Metrics, distributions, human judgement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05072"/>
            <a:ext cx="2743200" cy="493776"/>
          </a:xfrm>
          <a:prstGeom prst="roundRect">
            <a:avLst>
              <a:gd name="adj" fmla="val 14000"/>
            </a:avLst>
          </a:prstGeom>
          <a:solidFill>
            <a:srgbClr val="223054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Typical failure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4005072"/>
            <a:ext cx="4023360" cy="493776"/>
          </a:xfrm>
          <a:prstGeom prst="roundRect">
            <a:avLst>
              <a:gd name="adj" fmla="val 14000"/>
            </a:avLst>
          </a:prstGeom>
          <a:solidFill>
            <a:srgbClr val="0E1C35"/>
          </a:solidFill>
          <a:ln w="12700">
            <a:solidFill>
              <a:srgbClr val="25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CBD5E1"/>
                </a:solidFill>
                <a:latin typeface="Arial"/>
              </a:rPr>
              <a:t>Reproducible, visible bugs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4005072"/>
            <a:ext cx="4050791" cy="493776"/>
          </a:xfrm>
          <a:prstGeom prst="roundRect">
            <a:avLst>
              <a:gd name="adj" fmla="val 14000"/>
            </a:avLst>
          </a:prstGeom>
          <a:solidFill>
            <a:srgbClr val="171C2B"/>
          </a:solidFill>
          <a:ln w="12700">
            <a:solidFill>
              <a:srgbClr val="6B5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CBD5E1"/>
                </a:solidFill>
                <a:latin typeface="Arial"/>
              </a:rPr>
              <a:t>Silent, gradual degradation — drift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53712"/>
            <a:ext cx="2743200" cy="493776"/>
          </a:xfrm>
          <a:prstGeom prst="roundRect">
            <a:avLst>
              <a:gd name="adj" fmla="val 14000"/>
            </a:avLst>
          </a:prstGeom>
          <a:solidFill>
            <a:srgbClr val="223054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Change cadence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4553712"/>
            <a:ext cx="4023360" cy="493776"/>
          </a:xfrm>
          <a:prstGeom prst="roundRect">
            <a:avLst>
              <a:gd name="adj" fmla="val 14000"/>
            </a:avLst>
          </a:prstGeom>
          <a:solidFill>
            <a:srgbClr val="0E1C35"/>
          </a:solidFill>
          <a:ln w="12700">
            <a:solidFill>
              <a:srgbClr val="25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CBD5E1"/>
                </a:solidFill>
                <a:latin typeface="Arial"/>
              </a:rPr>
              <a:t>Planned, versioned releases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4553712"/>
            <a:ext cx="4050791" cy="493776"/>
          </a:xfrm>
          <a:prstGeom prst="roundRect">
            <a:avLst>
              <a:gd name="adj" fmla="val 14000"/>
            </a:avLst>
          </a:prstGeom>
          <a:solidFill>
            <a:srgbClr val="171C2B"/>
          </a:solidFill>
          <a:ln w="12700">
            <a:solidFill>
              <a:srgbClr val="6B5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CBD5E1"/>
                </a:solidFill>
                <a:latin typeface="Arial"/>
              </a:rPr>
              <a:t>Continuous retraining and evaluation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102352"/>
            <a:ext cx="2743200" cy="493776"/>
          </a:xfrm>
          <a:prstGeom prst="roundRect">
            <a:avLst>
              <a:gd name="adj" fmla="val 14000"/>
            </a:avLst>
          </a:prstGeom>
          <a:solidFill>
            <a:srgbClr val="223054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Who owns 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5102352"/>
            <a:ext cx="4023360" cy="493776"/>
          </a:xfrm>
          <a:prstGeom prst="roundRect">
            <a:avLst>
              <a:gd name="adj" fmla="val 14000"/>
            </a:avLst>
          </a:prstGeom>
          <a:solidFill>
            <a:srgbClr val="0E1C35"/>
          </a:solidFill>
          <a:ln w="12700">
            <a:solidFill>
              <a:srgbClr val="25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CBD5E1"/>
                </a:solidFill>
                <a:latin typeface="Arial"/>
              </a:rPr>
              <a:t>One product team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5102352"/>
            <a:ext cx="4050791" cy="493776"/>
          </a:xfrm>
          <a:prstGeom prst="roundRect">
            <a:avLst>
              <a:gd name="adj" fmla="val 14000"/>
            </a:avLst>
          </a:prstGeom>
          <a:solidFill>
            <a:srgbClr val="171C2B"/>
          </a:solidFill>
          <a:ln w="12700">
            <a:solidFill>
              <a:srgbClr val="6B5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CBD5E1"/>
                </a:solidFill>
                <a:latin typeface="Arial"/>
              </a:rPr>
              <a:t>Data, ML, platform and risk teams together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852160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0A233C"/>
          </a:solidFill>
          <a:ln w="12700">
            <a:solidFill>
              <a:srgbClr val="075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3834" y="5980176"/>
            <a:ext cx="50292" cy="2560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2376" y="5943600"/>
            <a:ext cx="1078077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0B4D8"/>
                </a:solidFill>
                <a:latin typeface="Arial"/>
              </a:rPr>
              <a:t>Neither replaces the other: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AI engineering is software engineering with two extra artifacts — data and model — and a definition of done that is measured, not written down.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PART F  ·  PULLING IT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The Whole Picture, End to 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From a UML diagram to a monitored, governed AI system — one loop, three lanes, every artifact from this deck.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1417320" cy="502920"/>
          </a:xfrm>
          <a:prstGeom prst="roundRect">
            <a:avLst>
              <a:gd name="adj" fmla="val 14000"/>
            </a:avLst>
          </a:prstGeom>
          <a:solidFill>
            <a:srgbClr val="142C47"/>
          </a:solidFill>
          <a:ln w="12700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 spc="60">
                <a:solidFill>
                  <a:srgbClr val="F8FAFC"/>
                </a:solidFill>
                <a:latin typeface="Arial"/>
              </a:rPr>
              <a:t>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2011680"/>
            <a:ext cx="2189988" cy="502920"/>
          </a:xfrm>
          <a:prstGeom prst="roundRect">
            <a:avLst>
              <a:gd name="adj" fmla="val 14000"/>
            </a:avLst>
          </a:prstGeom>
          <a:solidFill>
            <a:srgbClr val="11233D"/>
          </a:solidFill>
          <a:ln w="12700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Requirements &amp; UML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0268" y="2263140"/>
            <a:ext cx="228600" cy="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58868" y="2011680"/>
            <a:ext cx="2189988" cy="502920"/>
          </a:xfrm>
          <a:prstGeom prst="roundRect">
            <a:avLst>
              <a:gd name="adj" fmla="val 14000"/>
            </a:avLst>
          </a:prstGeom>
          <a:solidFill>
            <a:srgbClr val="11233D"/>
          </a:solidFill>
          <a:ln w="12700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Architecture &amp; components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48856" y="2263140"/>
            <a:ext cx="228600" cy="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77456" y="2011680"/>
            <a:ext cx="2189988" cy="502920"/>
          </a:xfrm>
          <a:prstGeom prst="roundRect">
            <a:avLst>
              <a:gd name="adj" fmla="val 14000"/>
            </a:avLst>
          </a:prstGeom>
          <a:solidFill>
            <a:srgbClr val="11233D"/>
          </a:solidFill>
          <a:ln w="12700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Code + unit &amp; system tests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67444" y="2263140"/>
            <a:ext cx="228600" cy="0"/>
          </a:xfrm>
          <a:prstGeom prst="line">
            <a:avLst/>
          </a:prstGeom>
          <a:ln w="17780">
            <a:solidFill>
              <a:srgbClr val="4CC9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96044" y="2011680"/>
            <a:ext cx="2189988" cy="502920"/>
          </a:xfrm>
          <a:prstGeom prst="roundRect">
            <a:avLst>
              <a:gd name="adj" fmla="val 14000"/>
            </a:avLst>
          </a:prstGeom>
          <a:solidFill>
            <a:srgbClr val="11233D"/>
          </a:solidFill>
          <a:ln w="12700">
            <a:solidFill>
              <a:srgbClr val="286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Release the 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00400"/>
            <a:ext cx="1417320" cy="502920"/>
          </a:xfrm>
          <a:prstGeom prst="roundRect">
            <a:avLst>
              <a:gd name="adj" fmla="val 14000"/>
            </a:avLst>
          </a:prstGeom>
          <a:solidFill>
            <a:srgbClr val="2D2B2A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 spc="60">
                <a:solidFill>
                  <a:srgbClr val="F8FAFC"/>
                </a:solidFill>
                <a:latin typeface="Arial"/>
              </a:rPr>
              <a:t>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3200400"/>
            <a:ext cx="2189988" cy="502920"/>
          </a:xfrm>
          <a:prstGeom prst="roundRect">
            <a:avLst>
              <a:gd name="adj" fmla="val 14000"/>
            </a:avLst>
          </a:prstGeom>
          <a:solidFill>
            <a:srgbClr val="2122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Collect &amp; label data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30268" y="3451860"/>
            <a:ext cx="228600" cy="0"/>
          </a:xfrm>
          <a:prstGeom prst="line">
            <a:avLst/>
          </a:prstGeom>
          <a:ln w="17780">
            <a:solidFill>
              <a:srgbClr val="FBBF2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658868" y="3200400"/>
            <a:ext cx="2189988" cy="502920"/>
          </a:xfrm>
          <a:prstGeom prst="roundRect">
            <a:avLst>
              <a:gd name="adj" fmla="val 14000"/>
            </a:avLst>
          </a:prstGeom>
          <a:solidFill>
            <a:srgbClr val="2122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Prepare &amp; features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48856" y="3451860"/>
            <a:ext cx="228600" cy="0"/>
          </a:xfrm>
          <a:prstGeom prst="line">
            <a:avLst/>
          </a:prstGeom>
          <a:ln w="17780">
            <a:solidFill>
              <a:srgbClr val="FBBF2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077456" y="3200400"/>
            <a:ext cx="2189988" cy="502920"/>
          </a:xfrm>
          <a:prstGeom prst="roundRect">
            <a:avLst>
              <a:gd name="adj" fmla="val 14000"/>
            </a:avLst>
          </a:prstGeom>
          <a:solidFill>
            <a:srgbClr val="2122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Train &amp; evaluate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67444" y="3451860"/>
            <a:ext cx="228600" cy="0"/>
          </a:xfrm>
          <a:prstGeom prst="line">
            <a:avLst/>
          </a:prstGeom>
          <a:ln w="17780">
            <a:solidFill>
              <a:srgbClr val="FBBF2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96044" y="3200400"/>
            <a:ext cx="2189988" cy="502920"/>
          </a:xfrm>
          <a:prstGeom prst="roundRect">
            <a:avLst>
              <a:gd name="adj" fmla="val 14000"/>
            </a:avLst>
          </a:prstGeom>
          <a:solidFill>
            <a:srgbClr val="21222A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Model registry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389120"/>
            <a:ext cx="1417320" cy="502920"/>
          </a:xfrm>
          <a:prstGeom prst="roundRect">
            <a:avLst>
              <a:gd name="adj" fmla="val 14000"/>
            </a:avLst>
          </a:prstGeom>
          <a:solidFill>
            <a:srgbClr val="112E3A"/>
          </a:solidFill>
          <a:ln w="12700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00" b="1" i="0" spc="60">
                <a:solidFill>
                  <a:srgbClr val="F8FAFC"/>
                </a:solidFill>
                <a:latin typeface="Arial"/>
              </a:rPr>
              <a:t>OPERATE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40280" y="4389120"/>
            <a:ext cx="2189988" cy="502920"/>
          </a:xfrm>
          <a:prstGeom prst="roundRect">
            <a:avLst>
              <a:gd name="adj" fmla="val 14000"/>
            </a:avLst>
          </a:prstGeom>
          <a:solidFill>
            <a:srgbClr val="0F2435"/>
          </a:solidFill>
          <a:ln w="12700">
            <a:solidFill>
              <a:srgbClr val="1D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Deploy app + model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30268" y="4640580"/>
            <a:ext cx="228600" cy="0"/>
          </a:xfrm>
          <a:prstGeom prst="line">
            <a:avLst/>
          </a:prstGeom>
          <a:ln w="17780">
            <a:solidFill>
              <a:srgbClr val="34D3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658868" y="4389120"/>
            <a:ext cx="2189988" cy="502920"/>
          </a:xfrm>
          <a:prstGeom prst="roundRect">
            <a:avLst>
              <a:gd name="adj" fmla="val 14000"/>
            </a:avLst>
          </a:prstGeom>
          <a:solidFill>
            <a:srgbClr val="0F2435"/>
          </a:solidFill>
          <a:ln w="12700">
            <a:solidFill>
              <a:srgbClr val="1D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Serve predictions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48856" y="4640580"/>
            <a:ext cx="228600" cy="0"/>
          </a:xfrm>
          <a:prstGeom prst="line">
            <a:avLst/>
          </a:prstGeom>
          <a:ln w="17780">
            <a:solidFill>
              <a:srgbClr val="34D3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077456" y="4389120"/>
            <a:ext cx="2189988" cy="502920"/>
          </a:xfrm>
          <a:prstGeom prst="roundRect">
            <a:avLst>
              <a:gd name="adj" fmla="val 14000"/>
            </a:avLst>
          </a:prstGeom>
          <a:solidFill>
            <a:srgbClr val="0F2435"/>
          </a:solidFill>
          <a:ln w="12700">
            <a:solidFill>
              <a:srgbClr val="1D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Monitor drift &amp; quality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7444" y="4640580"/>
            <a:ext cx="228600" cy="0"/>
          </a:xfrm>
          <a:prstGeom prst="line">
            <a:avLst/>
          </a:prstGeom>
          <a:ln w="17780">
            <a:solidFill>
              <a:srgbClr val="34D3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96044" y="4389120"/>
            <a:ext cx="2189988" cy="502920"/>
          </a:xfrm>
          <a:prstGeom prst="roundRect">
            <a:avLst>
              <a:gd name="adj" fmla="val 14000"/>
            </a:avLst>
          </a:prstGeom>
          <a:solidFill>
            <a:srgbClr val="0F2435"/>
          </a:solidFill>
          <a:ln w="12700">
            <a:solidFill>
              <a:srgbClr val="1D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1" i="0">
                <a:solidFill>
                  <a:srgbClr val="F8FAFC"/>
                </a:solidFill>
                <a:latin typeface="Arial"/>
              </a:rPr>
              <a:t>Alert &amp; retrain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591038" y="2514600"/>
            <a:ext cx="0" cy="338328"/>
          </a:xfrm>
          <a:prstGeom prst="line">
            <a:avLst/>
          </a:prstGeom>
          <a:ln w="1778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335274" y="2852928"/>
            <a:ext cx="7255764" cy="0"/>
          </a:xfrm>
          <a:prstGeom prst="line">
            <a:avLst/>
          </a:prstGeom>
          <a:ln w="1778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335274" y="2852928"/>
            <a:ext cx="0" cy="347472"/>
          </a:xfrm>
          <a:prstGeom prst="line">
            <a:avLst/>
          </a:prstGeom>
          <a:ln w="17780">
            <a:solidFill>
              <a:srgbClr val="4C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657600" y="2596896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3892B5"/>
                </a:solidFill>
                <a:latin typeface="Arial"/>
              </a:rPr>
              <a:t>the design tells the model team what to predict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591038" y="3703320"/>
            <a:ext cx="0" cy="338328"/>
          </a:xfrm>
          <a:prstGeom prst="line">
            <a:avLst/>
          </a:prstGeom>
          <a:ln w="1778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335274" y="4041648"/>
            <a:ext cx="7255764" cy="0"/>
          </a:xfrm>
          <a:prstGeom prst="line">
            <a:avLst/>
          </a:prstGeom>
          <a:ln w="1778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335274" y="4041648"/>
            <a:ext cx="0" cy="347472"/>
          </a:xfrm>
          <a:prstGeom prst="line">
            <a:avLst/>
          </a:prstGeom>
          <a:ln w="1778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57600" y="3785615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B38B26"/>
                </a:solidFill>
                <a:latin typeface="Arial"/>
              </a:rPr>
              <a:t>a validated model becomes part of the release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591038" y="4892040"/>
            <a:ext cx="0" cy="301752"/>
          </a:xfrm>
          <a:prstGeom prst="line">
            <a:avLst/>
          </a:prstGeom>
          <a:ln w="16510">
            <a:solidFill>
              <a:srgbClr val="FB71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2075688" y="5193792"/>
            <a:ext cx="8515350" cy="0"/>
          </a:xfrm>
          <a:prstGeom prst="line">
            <a:avLst/>
          </a:prstGeom>
          <a:ln w="16510">
            <a:solidFill>
              <a:srgbClr val="FB71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075688" y="3451860"/>
            <a:ext cx="0" cy="1741932"/>
          </a:xfrm>
          <a:prstGeom prst="line">
            <a:avLst/>
          </a:prstGeom>
          <a:ln w="16510">
            <a:solidFill>
              <a:srgbClr val="FB71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075688" y="3451860"/>
            <a:ext cx="164592" cy="0"/>
          </a:xfrm>
          <a:prstGeom prst="line">
            <a:avLst/>
          </a:prstGeom>
          <a:ln w="16510">
            <a:solidFill>
              <a:srgbClr val="FB71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91840" y="4956048"/>
            <a:ext cx="5852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FB7185"/>
                </a:solidFill>
                <a:latin typeface="Arial"/>
              </a:rPr>
              <a:t>drift, incidents and new data restart training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394960"/>
            <a:ext cx="11183112" cy="457200"/>
          </a:xfrm>
          <a:prstGeom prst="roundRect">
            <a:avLst>
              <a:gd name="adj" fmla="val 14000"/>
            </a:avLst>
          </a:prstGeom>
          <a:solidFill>
            <a:srgbClr val="171F40"/>
          </a:solidFill>
          <a:ln w="12700">
            <a:solidFill>
              <a:srgbClr val="4049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 spc="30">
                <a:solidFill>
                  <a:srgbClr val="F8FAFC"/>
                </a:solidFill>
                <a:latin typeface="Arial"/>
              </a:rPr>
              <a:t>GOVERN  ·  MAP  ·  MEASURE  ·  MANAGE   —   policies, tests, oversight and accountability wrap every stage above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980176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12253F"/>
          </a:solidFill>
          <a:ln w="12700">
            <a:solidFill>
              <a:srgbClr val="245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03834" y="6108192"/>
            <a:ext cx="50292" cy="201167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2376" y="6071616"/>
            <a:ext cx="107807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4CC9F0"/>
                </a:solidFill>
                <a:latin typeface="Arial"/>
              </a:rPr>
              <a:t>One loop, not two projects:   </a:t>
            </a:r>
            <a:r>
              <a:rPr sz="1050" b="0" i="0">
                <a:solidFill>
                  <a:srgbClr val="CBD5E1"/>
                </a:solidFill>
                <a:latin typeface="Arial"/>
              </a:rPr>
              <a:t>requirements, models and operations are the same delivery pipeline — with monitoring closing the loop back to design.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AI in Software Design &amp; Engineering   |   From UML to AI /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Five Things to Take 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If the audience remembers nothing else from these 22 slides, it should be these.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6903720" cy="65836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783080"/>
            <a:ext cx="45720" cy="65836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13232" y="192938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92B45"/>
          </a:solidFill>
          <a:ln w="12700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1892807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Design still comes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216712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UML and architecture describe the system. AI adds artifacts — it does not replace the diagrams.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32888"/>
            <a:ext cx="6903720" cy="65836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2532888"/>
            <a:ext cx="45720" cy="65836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" y="267919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22254A"/>
          </a:solidFill>
          <a:ln w="12700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26426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Data and models are software artifacts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2916936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Version them, test them and govern them exactly like source code.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82696"/>
            <a:ext cx="6903720" cy="65836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282696"/>
            <a:ext cx="4572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34290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2F2D2A"/>
          </a:solidFill>
          <a:ln w="12700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3392424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Ship pipelines, not notebooks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3666744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Automated, validated, reproducible releases are the only way models survive contact with production.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032504"/>
            <a:ext cx="6903720" cy="65836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032504"/>
            <a:ext cx="45720" cy="65836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3232" y="4178808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2F2138"/>
          </a:solidFill>
          <a:ln w="12700">
            <a:solidFill>
              <a:srgbClr val="83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" y="4142232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Deployed means monitored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4416552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Drift is the default. The loop on slide 15 never actually closes.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782312"/>
            <a:ext cx="6903720" cy="658368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4782312"/>
            <a:ext cx="45720" cy="658368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13232" y="492861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D254A"/>
          </a:solidFill>
          <a:ln w="12700">
            <a:solidFill>
              <a:srgbClr val="4650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8FAFC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3584" y="489204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Trust is engineered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3584" y="5166359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Three test suites, a risk framework and a human in the loop — from the first requirement to the alert.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6679" y="1499616"/>
            <a:ext cx="45720" cy="18288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72983" y="1463040"/>
            <a:ext cx="3813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4CC9F0"/>
                </a:solidFill>
                <a:latin typeface="Arial"/>
              </a:rPr>
              <a:t>WHAT COMES NEXT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26679" y="1783080"/>
            <a:ext cx="3959352" cy="2084831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955279" y="2121408"/>
            <a:ext cx="91440" cy="9144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74736" y="1993392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Agentic systems  </a:t>
            </a:r>
            <a:r>
              <a:rPr sz="950" b="0" i="0">
                <a:solidFill>
                  <a:srgbClr val="94A3B8"/>
                </a:solidFill>
                <a:latin typeface="Arial"/>
              </a:rPr>
              <a:t>models that call tools and take actions</a:t>
            </a:r>
          </a:p>
        </p:txBody>
      </p:sp>
      <p:sp>
        <p:nvSpPr>
          <p:cNvPr id="41" name="Oval 40"/>
          <p:cNvSpPr/>
          <p:nvPr/>
        </p:nvSpPr>
        <p:spPr>
          <a:xfrm>
            <a:off x="7955279" y="2596896"/>
            <a:ext cx="91440" cy="9144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74736" y="2468880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Evaluation at scale  </a:t>
            </a:r>
            <a:r>
              <a:rPr sz="950" b="0" i="0">
                <a:solidFill>
                  <a:srgbClr val="94A3B8"/>
                </a:solidFill>
                <a:latin typeface="Arial"/>
              </a:rPr>
              <a:t>automated, continuous quality gates</a:t>
            </a:r>
          </a:p>
        </p:txBody>
      </p:sp>
      <p:sp>
        <p:nvSpPr>
          <p:cNvPr id="43" name="Oval 42"/>
          <p:cNvSpPr/>
          <p:nvPr/>
        </p:nvSpPr>
        <p:spPr>
          <a:xfrm>
            <a:off x="7955279" y="3072384"/>
            <a:ext cx="91440" cy="9144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74736" y="2944368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Edge &amp; on-device AI  </a:t>
            </a:r>
            <a:r>
              <a:rPr sz="950" b="0" i="0">
                <a:solidFill>
                  <a:srgbClr val="94A3B8"/>
                </a:solidFill>
                <a:latin typeface="Arial"/>
              </a:rPr>
              <a:t>smaller models, private data, low latency</a:t>
            </a:r>
          </a:p>
        </p:txBody>
      </p:sp>
      <p:sp>
        <p:nvSpPr>
          <p:cNvPr id="45" name="Oval 44"/>
          <p:cNvSpPr/>
          <p:nvPr/>
        </p:nvSpPr>
        <p:spPr>
          <a:xfrm>
            <a:off x="7955279" y="3547872"/>
            <a:ext cx="91440" cy="9144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74736" y="3419856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Regulation &amp; audits  </a:t>
            </a:r>
            <a:r>
              <a:rPr sz="950" b="0" i="0">
                <a:solidFill>
                  <a:srgbClr val="94A3B8"/>
                </a:solidFill>
                <a:latin typeface="Arial"/>
              </a:rPr>
              <a:t>EU AI Act, NIST, ISO — evidence on demand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78224"/>
            <a:ext cx="45720" cy="1828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72983" y="4041648"/>
            <a:ext cx="3813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A78BFA"/>
                </a:solidFill>
                <a:latin typeface="Arial"/>
              </a:rPr>
              <a:t>SOURCES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26679" y="4352544"/>
            <a:ext cx="3959352" cy="128016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55279" y="4517136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Microsoft — UML diagram guide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Google — ML engineering &amp; production pipelines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NIST — AI Risk Management Framework 1.0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CBD5E1"/>
                </a:solidFill>
                <a:latin typeface="Arial"/>
              </a:rPr>
              <a:t>ISO/IEC 23894 — AI risk management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870448"/>
            <a:ext cx="11183112" cy="566928"/>
          </a:xfrm>
          <a:prstGeom prst="roundRect">
            <a:avLst>
              <a:gd name="adj" fmla="val 16000"/>
            </a:avLst>
          </a:prstGeom>
          <a:solidFill>
            <a:srgbClr val="0A2039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3834" y="5998464"/>
            <a:ext cx="50292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" y="5961888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B4D8"/>
                </a:solidFill>
                <a:latin typeface="Arial"/>
              </a:rPr>
              <a:t>Thank you.   </a:t>
            </a:r>
            <a:r>
              <a:rPr sz="1150" b="0" i="0">
                <a:solidFill>
                  <a:srgbClr val="CBD5E1"/>
                </a:solidFill>
                <a:latin typeface="Arial"/>
              </a:rPr>
              <a:t>Questions welcome — Bezaleel Paul N  ·  B.Tech CSE  ·  AI in Software Design &amp;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3673</Words>
  <Application>Microsoft Office PowerPoint</Application>
  <PresentationFormat>Widescreen</PresentationFormat>
  <Paragraphs>655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Software Design &amp; Engineering</dc:title>
  <dc:subject>From UML to AI / MLOps</dc:subject>
  <dc:creator>Bezaleel Paul N</dc:creator>
  <cp:keywords/>
  <dc:description>generated using python-pptx</dc:description>
  <cp:lastModifiedBy>Bezaleel Paul</cp:lastModifiedBy>
  <cp:revision>3</cp:revision>
  <dcterms:created xsi:type="dcterms:W3CDTF">2013-01-27T09:14:16Z</dcterms:created>
  <dcterms:modified xsi:type="dcterms:W3CDTF">2026-09-29T08:59:44Z</dcterms:modified>
  <cp:category/>
</cp:coreProperties>
</file>