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Software Development Lifecycle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4248" y="2944368"/>
            <a:ext cx="109728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8346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2944368"/>
            <a:ext cx="109728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28346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36008" y="2944368"/>
            <a:ext cx="109728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8346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61888" y="2944368"/>
            <a:ext cx="109728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8346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87768" y="2944368"/>
            <a:ext cx="109728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6640" y="2834640"/>
            <a:ext cx="1188720" cy="41148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Presentation  |  B.Tech Computer Science Engineering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Bezaleel Paul 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Entering Software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8229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is no longer limited to manually writing and testing code. AI can assist engineers throughout the entire development lifecycle.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Engineering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handling of: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Requirement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design &amp; coding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&amp; debugging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Documentation &amp; maintenance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2148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+ AI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Code  →  Auto Test  →  Deploy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Continuous 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788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assistance across: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traditional activities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feedback loops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improvement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 AI does not replace the software engineer — it amplifies the engineer's capabilities.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“AI in Software Engineering” Mean?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 of machine learning, generative AI, large language models, and intelligent automation to support software development activities.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258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documentation,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4600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25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0604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Prediction, classification,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25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Requirements, coding,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debugging, NL interaction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812280" y="118872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3258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90372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development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automation workflows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Stack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65760" y="32918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5760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Developer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984248" y="3429000"/>
            <a:ext cx="109728" cy="201168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7" name="Shape 21"/>
          <p:cNvSpPr/>
          <p:nvPr/>
        </p:nvSpPr>
        <p:spPr>
          <a:xfrm>
            <a:off x="2103120" y="32918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2103120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/ Agent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721608" y="3429000"/>
            <a:ext cx="109728" cy="201168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0" name="Shape 24"/>
          <p:cNvSpPr/>
          <p:nvPr/>
        </p:nvSpPr>
        <p:spPr>
          <a:xfrm>
            <a:off x="3840480" y="32918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840480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Tools (IDE, CI/CD)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58968" y="3429000"/>
            <a:ext cx="109728" cy="201168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3" name="Shape 27"/>
          <p:cNvSpPr/>
          <p:nvPr/>
        </p:nvSpPr>
        <p:spPr>
          <a:xfrm>
            <a:off x="5577840" y="32918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577840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+ Tests + Docs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196328" y="3429000"/>
            <a:ext cx="109728" cy="201168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6" name="Shape 30"/>
          <p:cNvSpPr/>
          <p:nvPr/>
        </p:nvSpPr>
        <p:spPr>
          <a:xfrm>
            <a:off x="7315200" y="329184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315200" y="32918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Software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65760" y="4023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sits as an intelligent layer between the developer and the tools — amplifying every interaction.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Across the Software Development Lifecycle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14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9144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user stories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specifications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77724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3280" y="9144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914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8328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architectures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design patterns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26480" y="77724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19" name="Shape 15"/>
          <p:cNvSpPr/>
          <p:nvPr/>
        </p:nvSpPr>
        <p:spPr>
          <a:xfrm>
            <a:off x="6263640" y="9144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20" name="Text 16"/>
          <p:cNvSpPr/>
          <p:nvPr/>
        </p:nvSpPr>
        <p:spPr>
          <a:xfrm>
            <a:off x="6263640" y="914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263640" y="1645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code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24688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25" name="Shape 20"/>
          <p:cNvSpPr/>
          <p:nvPr/>
        </p:nvSpPr>
        <p:spPr>
          <a:xfrm>
            <a:off x="502920" y="260604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26" name="Text 21"/>
          <p:cNvSpPr/>
          <p:nvPr/>
        </p:nvSpPr>
        <p:spPr>
          <a:xfrm>
            <a:off x="50292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60604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0292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0292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tests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defects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246120" y="24688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31" name="Shape 25"/>
          <p:cNvSpPr/>
          <p:nvPr/>
        </p:nvSpPr>
        <p:spPr>
          <a:xfrm>
            <a:off x="3383280" y="260604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32" name="Text 26"/>
          <p:cNvSpPr/>
          <p:nvPr/>
        </p:nvSpPr>
        <p:spPr>
          <a:xfrm>
            <a:off x="338328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60604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38328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338328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Assists CI/CD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analysis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126480" y="246888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/>
        </p:spPr>
      </p:sp>
      <p:sp>
        <p:nvSpPr>
          <p:cNvPr id="37" name="Shape 30"/>
          <p:cNvSpPr/>
          <p:nvPr/>
        </p:nvSpPr>
        <p:spPr>
          <a:xfrm>
            <a:off x="6263640" y="260604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00B4D8"/>
          </a:solidFill>
          <a:ln/>
        </p:spPr>
      </p:sp>
      <p:sp>
        <p:nvSpPr>
          <p:cNvPr id="38" name="Text 31"/>
          <p:cNvSpPr/>
          <p:nvPr/>
        </p:nvSpPr>
        <p:spPr>
          <a:xfrm>
            <a:off x="626364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60604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26364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6263640" y="3337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logs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failures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contribute at every stage — but human validation remains essential.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Requirements and Software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685800"/>
            <a:ext cx="73152" cy="23774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Engineering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Convert natural-language into user stories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Identify missing requirements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Detect ambiguity in specifications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Generate acceptance criteria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Summarize stakeholder feedback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09160" y="68580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16213E"/>
          </a:solidFill>
          <a:ln/>
        </p:spPr>
      </p:sp>
      <p:sp>
        <p:nvSpPr>
          <p:cNvPr id="16" name="Shape 13"/>
          <p:cNvSpPr/>
          <p:nvPr/>
        </p:nvSpPr>
        <p:spPr>
          <a:xfrm>
            <a:off x="4709160" y="685800"/>
            <a:ext cx="73152" cy="2377440"/>
          </a:xfrm>
          <a:prstGeom prst="rect">
            <a:avLst/>
          </a:prstGeom>
          <a:solidFill>
            <a:srgbClr val="4CC9F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82296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822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Design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937760" y="1280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Suggest architecture patterns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937760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Generate UML diagrams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1920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Recommend database structures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37760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Identify potential bottlenecks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37760" y="2560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Compare design alternatives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Workflow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65760" y="35661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6576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1938528" y="3767328"/>
            <a:ext cx="13716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8" name="Shape 24"/>
          <p:cNvSpPr/>
          <p:nvPr/>
        </p:nvSpPr>
        <p:spPr>
          <a:xfrm>
            <a:off x="2103120" y="35661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10312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675888" y="3767328"/>
            <a:ext cx="13716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1" name="Shape 27"/>
          <p:cNvSpPr/>
          <p:nvPr/>
        </p:nvSpPr>
        <p:spPr>
          <a:xfrm>
            <a:off x="3840480" y="35661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84048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13248" y="3767328"/>
            <a:ext cx="13716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4" name="Shape 30"/>
          <p:cNvSpPr/>
          <p:nvPr/>
        </p:nvSpPr>
        <p:spPr>
          <a:xfrm>
            <a:off x="5577840" y="35661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57784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150608" y="3767328"/>
            <a:ext cx="13716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7" name="Shape 33"/>
          <p:cNvSpPr/>
          <p:nvPr/>
        </p:nvSpPr>
        <p:spPr>
          <a:xfrm>
            <a:off x="7315200" y="35661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31520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APIs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Software Development Assistant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tools support developers rather than simply generate entire applications.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972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14600" y="1005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0972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Completion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005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9728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Explanation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12280" y="10058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09728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694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65760" y="16459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173736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2514600" y="16459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4328" y="173736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97180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4663440" y="16459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1737360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2064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Assistance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812280" y="16459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13E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1737360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26948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Conversion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365760" y="2423160"/>
            <a:ext cx="8412480" cy="1691640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</p:spPr>
      </p:sp>
      <p:sp>
        <p:nvSpPr>
          <p:cNvPr id="32" name="Text 22"/>
          <p:cNvSpPr/>
          <p:nvPr/>
        </p:nvSpPr>
        <p:spPr>
          <a:xfrm>
            <a:off x="502920" y="2560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Code Generation Workflow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502920" y="2880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Developer:  “Create a REST API endpoint for retrieving user profiles.”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502920" y="32004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generates: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502920" y="35204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5029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2103120" y="35204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1031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3703320" y="35204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7033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5303520" y="35204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3035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6903720" y="352044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69037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365760" y="429768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0D2137"/>
          </a:solidFill>
          <a:ln/>
        </p:spPr>
      </p:sp>
      <p:sp>
        <p:nvSpPr>
          <p:cNvPr id="46" name="Text 36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Generated code must still be reviewed, tested, and secured by a developer.   •   Human-in-the-loop is mandatory.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Testing and Debugging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498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25272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0" name="Shape 7"/>
          <p:cNvSpPr/>
          <p:nvPr/>
        </p:nvSpPr>
        <p:spPr>
          <a:xfrm>
            <a:off x="132588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7498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35000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4" name="Shape 10"/>
          <p:cNvSpPr/>
          <p:nvPr/>
        </p:nvSpPr>
        <p:spPr>
          <a:xfrm>
            <a:off x="242316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4980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42316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44728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18" name="Shape 13"/>
          <p:cNvSpPr/>
          <p:nvPr/>
        </p:nvSpPr>
        <p:spPr>
          <a:xfrm>
            <a:off x="352044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74980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52044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4456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2" name="Shape 16"/>
          <p:cNvSpPr/>
          <p:nvPr/>
        </p:nvSpPr>
        <p:spPr>
          <a:xfrm>
            <a:off x="461772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74980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61772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64184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26" name="Shape 19"/>
          <p:cNvSpPr/>
          <p:nvPr/>
        </p:nvSpPr>
        <p:spPr>
          <a:xfrm>
            <a:off x="571500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749808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71500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73912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0" name="Shape 22"/>
          <p:cNvSpPr/>
          <p:nvPr/>
        </p:nvSpPr>
        <p:spPr>
          <a:xfrm>
            <a:off x="681228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749808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81228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Fix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7836408" y="1005840"/>
            <a:ext cx="73152" cy="18288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4" name="Shape 25"/>
          <p:cNvSpPr/>
          <p:nvPr/>
        </p:nvSpPr>
        <p:spPr>
          <a:xfrm>
            <a:off x="7909560" y="6858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6213E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749808"/>
            <a:ext cx="320040" cy="3200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90956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36576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Capabilities in Testing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3657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Automated test generation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3657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Edge-case discovery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365760" y="2688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Bug classification</a:t>
            </a:r>
            <a:endParaRPr lang="en-US" sz="1200" dirty="0"/>
          </a:p>
        </p:txBody>
      </p:sp>
      <p:sp>
        <p:nvSpPr>
          <p:cNvPr id="41" name="Text 31"/>
          <p:cNvSpPr/>
          <p:nvPr/>
        </p:nvSpPr>
        <p:spPr>
          <a:xfrm>
            <a:off x="365760" y="29809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Failure analysis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26517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Regression testing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265176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Test prioritization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2651760" y="2688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Log analysis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4846320" y="17373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</p:spPr>
      </p:sp>
      <p:sp>
        <p:nvSpPr>
          <p:cNvPr id="46" name="Text 36"/>
          <p:cNvSpPr/>
          <p:nvPr/>
        </p:nvSpPr>
        <p:spPr>
          <a:xfrm>
            <a:off x="5029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Scenario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50292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developer changes a payment function. AI analyzes the change and suggests tests for: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5029200" y="274320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/>
        </p:spPr>
      </p:sp>
      <p:sp>
        <p:nvSpPr>
          <p:cNvPr id="49" name="Text 39"/>
          <p:cNvSpPr/>
          <p:nvPr/>
        </p:nvSpPr>
        <p:spPr>
          <a:xfrm>
            <a:off x="5029200" y="2743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payment</a:t>
            </a:r>
            <a:endParaRPr lang="en-US" sz="1100" dirty="0"/>
          </a:p>
        </p:txBody>
      </p:sp>
      <p:sp>
        <p:nvSpPr>
          <p:cNvPr id="50" name="Shape 40"/>
          <p:cNvSpPr/>
          <p:nvPr/>
        </p:nvSpPr>
        <p:spPr>
          <a:xfrm>
            <a:off x="6812280" y="274320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/>
        </p:spPr>
      </p:sp>
      <p:sp>
        <p:nvSpPr>
          <p:cNvPr id="51" name="Text 41"/>
          <p:cNvSpPr/>
          <p:nvPr/>
        </p:nvSpPr>
        <p:spPr>
          <a:xfrm>
            <a:off x="6812280" y="27432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card</a:t>
            </a:r>
            <a:endParaRPr lang="en-US" sz="1100" dirty="0"/>
          </a:p>
        </p:txBody>
      </p:sp>
      <p:sp>
        <p:nvSpPr>
          <p:cNvPr id="52" name="Shape 42"/>
          <p:cNvSpPr/>
          <p:nvPr/>
        </p:nvSpPr>
        <p:spPr>
          <a:xfrm>
            <a:off x="5029200" y="310896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/>
        </p:spPr>
      </p:sp>
      <p:sp>
        <p:nvSpPr>
          <p:cNvPr id="53" name="Text 43"/>
          <p:cNvSpPr/>
          <p:nvPr/>
        </p:nvSpPr>
        <p:spPr>
          <a:xfrm>
            <a:off x="5029200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1100" dirty="0"/>
          </a:p>
        </p:txBody>
      </p:sp>
      <p:sp>
        <p:nvSpPr>
          <p:cNvPr id="54" name="Shape 44"/>
          <p:cNvSpPr/>
          <p:nvPr/>
        </p:nvSpPr>
        <p:spPr>
          <a:xfrm>
            <a:off x="6812280" y="310896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/>
        </p:spPr>
      </p:sp>
      <p:sp>
        <p:nvSpPr>
          <p:cNvPr id="55" name="Text 45"/>
          <p:cNvSpPr/>
          <p:nvPr/>
        </p:nvSpPr>
        <p:spPr>
          <a:xfrm>
            <a:off x="6812280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transaction</a:t>
            </a:r>
            <a:endParaRPr lang="en-US" sz="1100" dirty="0"/>
          </a:p>
        </p:txBody>
      </p:sp>
      <p:sp>
        <p:nvSpPr>
          <p:cNvPr id="56" name="Shape 46"/>
          <p:cNvSpPr/>
          <p:nvPr/>
        </p:nvSpPr>
        <p:spPr>
          <a:xfrm>
            <a:off x="5029200" y="347472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/>
        </p:spPr>
      </p:sp>
      <p:sp>
        <p:nvSpPr>
          <p:cNvPr id="57" name="Text 47"/>
          <p:cNvSpPr/>
          <p:nvPr/>
        </p:nvSpPr>
        <p:spPr>
          <a:xfrm>
            <a:off x="502920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failure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6812280" y="3474720"/>
            <a:ext cx="1691640" cy="292608"/>
          </a:xfrm>
          <a:prstGeom prst="roundRect">
            <a:avLst>
              <a:gd name="adj" fmla="val 12500"/>
            </a:avLst>
          </a:prstGeom>
          <a:solidFill>
            <a:srgbClr val="111C36"/>
          </a:solidFill>
          <a:ln/>
        </p:spPr>
      </p:sp>
      <p:sp>
        <p:nvSpPr>
          <p:cNvPr id="59" name="Text 49"/>
          <p:cNvSpPr/>
          <p:nvPr/>
        </p:nvSpPr>
        <p:spPr>
          <a:xfrm>
            <a:off x="681228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values</a:t>
            </a:r>
            <a:endParaRPr lang="en-US" sz="1100" dirty="0"/>
          </a:p>
        </p:txBody>
      </p:sp>
      <p:sp>
        <p:nvSpPr>
          <p:cNvPr id="60" name="Text 50"/>
          <p:cNvSpPr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increases test coverage — but cannot guarantee software correctness.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Code Quality and Security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1621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Code smells 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Duplicated logic identification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Complex function analysis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Poor naming detection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Maintainability problems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Potential performance issues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09160" y="68580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16213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229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92040" y="1325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SQL injection risks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892040" y="1600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Hardcoded secrets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89204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Unsafe dependencies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92040" y="2148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Authentication weaknesses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9204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Input-validation problems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920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Vulnerable code patterns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20040" y="3337560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1A0A0A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AI-generated code can also introduce vulnerabilities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Therefore the verification pipeline is essential: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411480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/>
        </p:spPr>
      </p:sp>
      <p:sp>
        <p:nvSpPr>
          <p:cNvPr id="28" name="Text 24"/>
          <p:cNvSpPr/>
          <p:nvPr/>
        </p:nvSpPr>
        <p:spPr>
          <a:xfrm>
            <a:off x="5486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Suggestion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423160" y="4160520"/>
            <a:ext cx="182880" cy="228600"/>
          </a:xfrm>
          <a:prstGeom prst="rightArrow">
            <a:avLst/>
          </a:prstGeom>
          <a:solidFill>
            <a:srgbClr val="F87171"/>
          </a:solidFill>
          <a:ln/>
        </p:spPr>
      </p:sp>
      <p:sp>
        <p:nvSpPr>
          <p:cNvPr id="30" name="Shape 26"/>
          <p:cNvSpPr/>
          <p:nvPr/>
        </p:nvSpPr>
        <p:spPr>
          <a:xfrm>
            <a:off x="2651760" y="411480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/>
        </p:spPr>
      </p:sp>
      <p:sp>
        <p:nvSpPr>
          <p:cNvPr id="31" name="Text 27"/>
          <p:cNvSpPr/>
          <p:nvPr/>
        </p:nvSpPr>
        <p:spPr>
          <a:xfrm>
            <a:off x="26517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526280" y="4160520"/>
            <a:ext cx="182880" cy="228600"/>
          </a:xfrm>
          <a:prstGeom prst="rightArrow">
            <a:avLst/>
          </a:prstGeom>
          <a:solidFill>
            <a:srgbClr val="F87171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411480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/>
        </p:spPr>
      </p:sp>
      <p:sp>
        <p:nvSpPr>
          <p:cNvPr id="34" name="Text 30"/>
          <p:cNvSpPr/>
          <p:nvPr/>
        </p:nvSpPr>
        <p:spPr>
          <a:xfrm>
            <a:off x="47548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Testing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629400" y="4160520"/>
            <a:ext cx="182880" cy="228600"/>
          </a:xfrm>
          <a:prstGeom prst="rightArrow">
            <a:avLst/>
          </a:prstGeom>
          <a:solidFill>
            <a:srgbClr val="F87171"/>
          </a:solidFill>
          <a:ln/>
        </p:spPr>
      </p:sp>
      <p:sp>
        <p:nvSpPr>
          <p:cNvPr id="36" name="Shape 32"/>
          <p:cNvSpPr/>
          <p:nvPr/>
        </p:nvSpPr>
        <p:spPr>
          <a:xfrm>
            <a:off x="6858000" y="4114800"/>
            <a:ext cx="1828800" cy="320040"/>
          </a:xfrm>
          <a:prstGeom prst="roundRect">
            <a:avLst>
              <a:gd name="adj" fmla="val 11429"/>
            </a:avLst>
          </a:prstGeom>
          <a:solidFill>
            <a:srgbClr val="16213E"/>
          </a:solidFill>
          <a:ln/>
        </p:spPr>
      </p:sp>
      <p:sp>
        <p:nvSpPr>
          <p:cNvPr id="37" name="Text 33"/>
          <p:cNvSpPr/>
          <p:nvPr/>
        </p:nvSpPr>
        <p:spPr>
          <a:xfrm>
            <a:off x="68580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code completion, explanation, and development support integrated into the editor.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6858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144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914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/ Gemini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9204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assistance across software development and broader developer workflows.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1031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864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development integrated into Visual Studio, GitHub, and Azure tooling.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210312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16213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33172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89204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assistance for coding, testing, troubleshooting, and cloud development.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65760" y="365760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6213E"/>
          </a:solidFill>
          <a:ln/>
        </p:spPr>
      </p:sp>
      <p:sp>
        <p:nvSpPr>
          <p:cNvPr id="23" name="Text 17"/>
          <p:cNvSpPr/>
          <p:nvPr/>
        </p:nvSpPr>
        <p:spPr>
          <a:xfrm>
            <a:off x="502920" y="37490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Industry Uses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292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87452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187452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4612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24612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61772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61772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98932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98932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360920" y="4069080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111C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6092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of AI in Software Engineering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7315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86868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68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Productivity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repetitive development tasks.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7315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86868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868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Development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time on boilerplate coding and documentation.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7315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86868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8686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Test Coverage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additional test cases and edge cases.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42316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231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Debugging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identify patterns in errors and logs.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3337560" y="242316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3337560" y="24231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3756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DX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375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interact with tools using natural language.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228600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2423160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24231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Assistance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1792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unfamiliar code, APIs, libraries, and concepts.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benefit is not “less coding” — it is reducing repetitive work so engineers can focus on higher-value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Risks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Risks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Hallucinated or incorrect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Security vulnerabilities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Hidden bugs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Outdated information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Poor architectural decisions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685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Risks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Over-reliance on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Reduced code understanding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Technical debt accumulation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Hard-to-debug AI systems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68580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16213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822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Ethical Risks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Copyright &amp; licensing issues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6002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Data privacy concerns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Source-code exposure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Accountability gaps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is a Suggestion — Not a Source of Truth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3886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950208"/>
            <a:ext cx="18288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0" y="3886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17720" y="3950208"/>
            <a:ext cx="18288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886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Review + Secure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20840" y="3950208"/>
            <a:ext cx="182880" cy="228600"/>
          </a:xfrm>
          <a:prstGeom prst="rightArrow">
            <a:avLst/>
          </a:prstGeom>
          <a:solidFill>
            <a:srgbClr val="00B4D8"/>
          </a:solidFill>
          <a:ln/>
        </p:spPr>
      </p:sp>
      <p:sp>
        <p:nvSpPr>
          <p:cNvPr id="36" name="Shape 34"/>
          <p:cNvSpPr/>
          <p:nvPr/>
        </p:nvSpPr>
        <p:spPr>
          <a:xfrm>
            <a:off x="6949440" y="3886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C3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Software Engineering  |  B.Tech CSE Seminar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412480" y="4919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Future: AI-Augmented Software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758952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58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685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assist across the entire SDLC.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0972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170432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170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is changing how developers write and understand software.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581912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581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1508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improve productivity, testing, debugging, and documentation.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1993392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9933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introduces new security, reliability, and ethical risks.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1621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404872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404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engineering judgment remains essential.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88036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16213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17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software engineering is not AI versus developers.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3383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Developers + AI building better software together.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Software Engineering</dc:title>
  <dc:subject>Transforming the Software Development Lifecycle</dc:subject>
  <dc:creator>Bezaleel Paul N</dc:creator>
  <cp:lastModifiedBy>Bezaleel Paul N</cp:lastModifiedBy>
  <cp:revision>1</cp:revision>
  <dcterms:created xsi:type="dcterms:W3CDTF">2026-09-09T18:23:54Z</dcterms:created>
  <dcterms:modified xsi:type="dcterms:W3CDTF">2026-09-09T18:23:54Z</dcterms:modified>
</cp:coreProperties>
</file>